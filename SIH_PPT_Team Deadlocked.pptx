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4" roundtripDataSignature="AMtx7mi1ErOAV++T5MumQl6UwRY66uzB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4"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 name="Google Shape;4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 name="Google Shape;9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 name="Google Shape;13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8" name="Google Shape;19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0" name="Google Shape;23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8" name="Google Shape;24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1" Type="http://schemas.openxmlformats.org/officeDocument/2006/relationships/hyperlink" Target="https://arxiv.org/abs/2006.11477?utm_source=chatgpt.com" TargetMode="External"/><Relationship Id="rId10" Type="http://schemas.openxmlformats.org/officeDocument/2006/relationships/hyperlink" Target="https://arxiv.org/abs/2006.11477?utm_source=chatgpt.com" TargetMode="External"/><Relationship Id="rId13" Type="http://schemas.openxmlformats.org/officeDocument/2006/relationships/hyperlink" Target="https://arxiv.org/abs/2106.07447?utm_source=chatgpt.com" TargetMode="External"/><Relationship Id="rId12" Type="http://schemas.openxmlformats.org/officeDocument/2006/relationships/hyperlink" Target="https://arxiv.org/abs/2106.07447?utm_source=chatgpt.com" TargetMode="External"/><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hyperlink" Target="https://www.asvspoof.org/index2021.html?utm_source=chatgpt.com" TargetMode="External"/><Relationship Id="rId9" Type="http://schemas.openxmlformats.org/officeDocument/2006/relationships/hyperlink" Target="https://www.isca-archive.org/interspeech_2020/desplanques20_interspeech.html?utm_source=chatgpt.com" TargetMode="External"/><Relationship Id="rId15" Type="http://schemas.openxmlformats.org/officeDocument/2006/relationships/hyperlink" Target="https://consumer.ftc.gov/consumer-alerts/2023/03/scammers-use-ai-enhance-their-family-emergency-schemes?utm_source=chatgpt.com" TargetMode="External"/><Relationship Id="rId14" Type="http://schemas.openxmlformats.org/officeDocument/2006/relationships/hyperlink" Target="https://consumer.ftc.gov/consumer-alerts/2023/03/scammers-use-ai-enhance-their-family-emergency-schemes?utm_source=chatgpt.com" TargetMode="External"/><Relationship Id="rId17" Type="http://schemas.openxmlformats.org/officeDocument/2006/relationships/hyperlink" Target="https://consumer.ftc.gov/consumer-alerts/2024/04/fighting-back-against-harmful-voice-cloning" TargetMode="External"/><Relationship Id="rId16" Type="http://schemas.openxmlformats.org/officeDocument/2006/relationships/hyperlink" Target="https://consumer.ftc.gov/consumer-alerts/2024/04/fighting-back-against-harmful-voice-cloning" TargetMode="External"/><Relationship Id="rId5" Type="http://schemas.openxmlformats.org/officeDocument/2006/relationships/hyperlink" Target="https://www.asvspoof.org/index2021.html?utm_source=chatgpt.com" TargetMode="External"/><Relationship Id="rId19" Type="http://schemas.openxmlformats.org/officeDocument/2006/relationships/hyperlink" Target="https://www.cert-in.org.in/" TargetMode="External"/><Relationship Id="rId6" Type="http://schemas.openxmlformats.org/officeDocument/2006/relationships/hyperlink" Target="https://arxiv.org/abs/2110.01200?utm_source=chatgpt.com" TargetMode="External"/><Relationship Id="rId18" Type="http://schemas.openxmlformats.org/officeDocument/2006/relationships/hyperlink" Target="https://www.cert-in.org.in/" TargetMode="External"/><Relationship Id="rId7" Type="http://schemas.openxmlformats.org/officeDocument/2006/relationships/hyperlink" Target="https://arxiv.org/abs/2110.01200?utm_source=chatgpt.com" TargetMode="External"/><Relationship Id="rId8" Type="http://schemas.openxmlformats.org/officeDocument/2006/relationships/hyperlink" Target="https://www.isca-archive.org/interspeech_2020/desplanques20_interspeech.html?utm_source=chatgpt.co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73D"/>
        </a:solidFill>
      </p:bgPr>
    </p:bg>
    <p:spTree>
      <p:nvGrpSpPr>
        <p:cNvPr id="15" name="Shape 15"/>
        <p:cNvGrpSpPr/>
        <p:nvPr/>
      </p:nvGrpSpPr>
      <p:grpSpPr>
        <a:xfrm>
          <a:off x="0" y="0"/>
          <a:ext cx="0" cy="0"/>
          <a:chOff x="0" y="0"/>
          <a:chExt cx="0" cy="0"/>
        </a:xfrm>
      </p:grpSpPr>
      <p:sp>
        <p:nvSpPr>
          <p:cNvPr id="16" name="Google Shape;16;p1"/>
          <p:cNvSpPr/>
          <p:nvPr/>
        </p:nvSpPr>
        <p:spPr>
          <a:xfrm>
            <a:off x="10607053" y="178425"/>
            <a:ext cx="1363200" cy="1380600"/>
          </a:xfrm>
          <a:prstGeom prst="ellipse">
            <a:avLst/>
          </a:prstGeom>
          <a:solidFill>
            <a:srgbClr val="232D6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
          <p:cNvSpPr/>
          <p:nvPr/>
        </p:nvSpPr>
        <p:spPr>
          <a:xfrm>
            <a:off x="548640" y="566928"/>
            <a:ext cx="877824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D6A64F"/>
              </a:buClr>
              <a:buSzPts val="1300"/>
              <a:buFont typeface="Calibri"/>
              <a:buNone/>
            </a:pPr>
            <a:r>
              <a:rPr b="1" i="0" lang="en-US" sz="1300" u="none" cap="none" strike="noStrike">
                <a:solidFill>
                  <a:srgbClr val="D6A64F"/>
                </a:solidFill>
                <a:latin typeface="Calibri"/>
                <a:ea typeface="Calibri"/>
                <a:cs typeface="Calibri"/>
                <a:sym typeface="Calibri"/>
              </a:rPr>
              <a:t>SMART INDIA HACKATHON   ·   INTERNAL HACKATHON</a:t>
            </a:r>
            <a:endParaRPr b="0" i="0" sz="1300" u="none" cap="none" strike="noStrike">
              <a:solidFill>
                <a:schemeClr val="dk1"/>
              </a:solidFill>
              <a:latin typeface="Calibri"/>
              <a:ea typeface="Calibri"/>
              <a:cs typeface="Calibri"/>
              <a:sym typeface="Calibri"/>
            </a:endParaRPr>
          </a:p>
        </p:txBody>
      </p:sp>
      <p:sp>
        <p:nvSpPr>
          <p:cNvPr id="18" name="Google Shape;18;p1"/>
          <p:cNvSpPr/>
          <p:nvPr/>
        </p:nvSpPr>
        <p:spPr>
          <a:xfrm>
            <a:off x="10959382" y="539471"/>
            <a:ext cx="658500" cy="658500"/>
          </a:xfrm>
          <a:prstGeom prst="ellipse">
            <a:avLst/>
          </a:prstGeom>
          <a:solidFill>
            <a:srgbClr val="FFFFFF"/>
          </a:solidFill>
          <a:ln cap="flat" cmpd="sng" w="19050">
            <a:solidFill>
              <a:srgbClr val="D6A64F"/>
            </a:solidFill>
            <a:prstDash val="solid"/>
            <a:round/>
            <a:headEnd len="sm" w="sm" type="none"/>
            <a:tailEnd len="sm" w="sm" type="none"/>
          </a:ln>
          <a:effectLst>
            <a:outerShdw blurRad="127000" rotWithShape="0" algn="bl" dir="5400000" dist="38100">
              <a:srgbClr val="1B1F3B">
                <a:alpha val="2196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iitm_bs_logo.png" id="19" name="Google Shape;19;p1"/>
          <p:cNvPicPr preferRelativeResize="0"/>
          <p:nvPr/>
        </p:nvPicPr>
        <p:blipFill rotWithShape="1">
          <a:blip r:embed="rId3">
            <a:alphaModFix/>
          </a:blip>
          <a:srcRect b="0" l="0" r="0" t="0"/>
          <a:stretch/>
        </p:blipFill>
        <p:spPr>
          <a:xfrm>
            <a:off x="11041753" y="621829"/>
            <a:ext cx="493776" cy="493776"/>
          </a:xfrm>
          <a:prstGeom prst="rect">
            <a:avLst/>
          </a:prstGeom>
          <a:noFill/>
          <a:ln>
            <a:noFill/>
          </a:ln>
        </p:spPr>
      </p:pic>
      <p:sp>
        <p:nvSpPr>
          <p:cNvPr id="20" name="Google Shape;20;p1"/>
          <p:cNvSpPr/>
          <p:nvPr/>
        </p:nvSpPr>
        <p:spPr>
          <a:xfrm>
            <a:off x="452825" y="1666975"/>
            <a:ext cx="11283300" cy="1164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3900"/>
              <a:buFont typeface="Cambria"/>
              <a:buNone/>
            </a:pPr>
            <a:r>
              <a:rPr b="1" lang="en-US" sz="3900">
                <a:solidFill>
                  <a:srgbClr val="FFFFFF"/>
                </a:solidFill>
                <a:latin typeface="Cambria"/>
                <a:ea typeface="Cambria"/>
                <a:cs typeface="Cambria"/>
                <a:sym typeface="Cambria"/>
              </a:rPr>
              <a:t>AI-Powered Real-Time Detection and Prevention of Voice Cloning Impersonation Attacks  </a:t>
            </a:r>
            <a:endParaRPr b="1" sz="3900">
              <a:solidFill>
                <a:srgbClr val="FFFFFF"/>
              </a:solidFill>
              <a:latin typeface="Cambria"/>
              <a:ea typeface="Cambria"/>
              <a:cs typeface="Cambria"/>
              <a:sym typeface="Cambria"/>
            </a:endParaRPr>
          </a:p>
        </p:txBody>
      </p:sp>
      <p:sp>
        <p:nvSpPr>
          <p:cNvPr id="21" name="Google Shape;21;p1"/>
          <p:cNvSpPr/>
          <p:nvPr/>
        </p:nvSpPr>
        <p:spPr>
          <a:xfrm>
            <a:off x="548640" y="3611880"/>
            <a:ext cx="5074920" cy="658368"/>
          </a:xfrm>
          <a:prstGeom prst="roundRect">
            <a:avLst>
              <a:gd fmla="val 9722" name="adj"/>
            </a:avLst>
          </a:prstGeom>
          <a:solidFill>
            <a:srgbClr val="232D6E"/>
          </a:solidFill>
          <a:ln cap="flat" cmpd="sng" w="9525">
            <a:solidFill>
              <a:srgbClr val="37417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1"/>
          <p:cNvSpPr/>
          <p:nvPr/>
        </p:nvSpPr>
        <p:spPr>
          <a:xfrm>
            <a:off x="749808" y="3694176"/>
            <a:ext cx="4672584"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D6A64F"/>
              </a:buClr>
              <a:buSzPts val="950"/>
              <a:buFont typeface="Calibri"/>
              <a:buNone/>
            </a:pPr>
            <a:r>
              <a:rPr b="1" i="0" lang="en-US" sz="950" u="none" cap="none" strike="noStrike">
                <a:solidFill>
                  <a:srgbClr val="D6A64F"/>
                </a:solidFill>
                <a:latin typeface="Calibri"/>
                <a:ea typeface="Calibri"/>
                <a:cs typeface="Calibri"/>
                <a:sym typeface="Calibri"/>
              </a:rPr>
              <a:t>PROBLEM STATEMENT ID</a:t>
            </a:r>
            <a:endParaRPr b="0" i="0" sz="950" u="none" cap="none" strike="noStrike">
              <a:solidFill>
                <a:schemeClr val="dk1"/>
              </a:solidFill>
              <a:latin typeface="Calibri"/>
              <a:ea typeface="Calibri"/>
              <a:cs typeface="Calibri"/>
              <a:sym typeface="Calibri"/>
            </a:endParaRPr>
          </a:p>
        </p:txBody>
      </p:sp>
      <p:sp>
        <p:nvSpPr>
          <p:cNvPr id="23" name="Google Shape;23;p1"/>
          <p:cNvSpPr/>
          <p:nvPr/>
        </p:nvSpPr>
        <p:spPr>
          <a:xfrm>
            <a:off x="749808" y="3904488"/>
            <a:ext cx="4672584"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50"/>
              <a:buFont typeface="Calibri"/>
              <a:buNone/>
            </a:pPr>
            <a:r>
              <a:rPr lang="en-US" sz="1250">
                <a:solidFill>
                  <a:srgbClr val="FFFFFF"/>
                </a:solidFill>
                <a:latin typeface="Calibri"/>
                <a:ea typeface="Calibri"/>
                <a:cs typeface="Calibri"/>
                <a:sym typeface="Calibri"/>
              </a:rPr>
              <a:t>26104 </a:t>
            </a:r>
            <a:endParaRPr b="0" i="0" sz="1250" u="none" cap="none" strike="noStrike">
              <a:solidFill>
                <a:schemeClr val="dk1"/>
              </a:solidFill>
              <a:latin typeface="Calibri"/>
              <a:ea typeface="Calibri"/>
              <a:cs typeface="Calibri"/>
              <a:sym typeface="Calibri"/>
            </a:endParaRPr>
          </a:p>
        </p:txBody>
      </p:sp>
      <p:sp>
        <p:nvSpPr>
          <p:cNvPr id="24" name="Google Shape;24;p1"/>
          <p:cNvSpPr/>
          <p:nvPr/>
        </p:nvSpPr>
        <p:spPr>
          <a:xfrm>
            <a:off x="5897880" y="3611880"/>
            <a:ext cx="5074920" cy="658368"/>
          </a:xfrm>
          <a:prstGeom prst="roundRect">
            <a:avLst>
              <a:gd fmla="val 9722" name="adj"/>
            </a:avLst>
          </a:prstGeom>
          <a:solidFill>
            <a:srgbClr val="232D6E"/>
          </a:solidFill>
          <a:ln cap="flat" cmpd="sng" w="9525">
            <a:solidFill>
              <a:srgbClr val="37417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1"/>
          <p:cNvSpPr/>
          <p:nvPr/>
        </p:nvSpPr>
        <p:spPr>
          <a:xfrm>
            <a:off x="6099048" y="3694176"/>
            <a:ext cx="4672584"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D6A64F"/>
              </a:buClr>
              <a:buSzPts val="950"/>
              <a:buFont typeface="Calibri"/>
              <a:buNone/>
            </a:pPr>
            <a:r>
              <a:rPr b="1" i="0" lang="en-US" sz="950" u="none" cap="none" strike="noStrike">
                <a:solidFill>
                  <a:srgbClr val="D6A64F"/>
                </a:solidFill>
                <a:latin typeface="Calibri"/>
                <a:ea typeface="Calibri"/>
                <a:cs typeface="Calibri"/>
                <a:sym typeface="Calibri"/>
              </a:rPr>
              <a:t>THEME</a:t>
            </a:r>
            <a:endParaRPr b="0" i="0" sz="950" u="none" cap="none" strike="noStrike">
              <a:solidFill>
                <a:schemeClr val="dk1"/>
              </a:solidFill>
              <a:latin typeface="Calibri"/>
              <a:ea typeface="Calibri"/>
              <a:cs typeface="Calibri"/>
              <a:sym typeface="Calibri"/>
            </a:endParaRPr>
          </a:p>
        </p:txBody>
      </p:sp>
      <p:sp>
        <p:nvSpPr>
          <p:cNvPr id="26" name="Google Shape;26;p1"/>
          <p:cNvSpPr/>
          <p:nvPr/>
        </p:nvSpPr>
        <p:spPr>
          <a:xfrm>
            <a:off x="6099048" y="3904488"/>
            <a:ext cx="4672584"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50"/>
              <a:buFont typeface="Calibri"/>
              <a:buNone/>
            </a:pPr>
            <a:r>
              <a:rPr lang="en-US" sz="1250">
                <a:solidFill>
                  <a:srgbClr val="FFFFFF"/>
                </a:solidFill>
                <a:latin typeface="Calibri"/>
                <a:ea typeface="Calibri"/>
                <a:cs typeface="Calibri"/>
                <a:sym typeface="Calibri"/>
              </a:rPr>
              <a:t>Blockchain &amp; Cybersecurity </a:t>
            </a:r>
            <a:endParaRPr sz="1250">
              <a:solidFill>
                <a:srgbClr val="FFFFFF"/>
              </a:solidFill>
              <a:latin typeface="Calibri"/>
              <a:ea typeface="Calibri"/>
              <a:cs typeface="Calibri"/>
              <a:sym typeface="Calibri"/>
            </a:endParaRPr>
          </a:p>
        </p:txBody>
      </p:sp>
      <p:sp>
        <p:nvSpPr>
          <p:cNvPr id="27" name="Google Shape;27;p1"/>
          <p:cNvSpPr/>
          <p:nvPr/>
        </p:nvSpPr>
        <p:spPr>
          <a:xfrm>
            <a:off x="548640" y="4416552"/>
            <a:ext cx="5074920" cy="658368"/>
          </a:xfrm>
          <a:prstGeom prst="roundRect">
            <a:avLst>
              <a:gd fmla="val 9722" name="adj"/>
            </a:avLst>
          </a:prstGeom>
          <a:solidFill>
            <a:srgbClr val="232D6E"/>
          </a:solidFill>
          <a:ln cap="flat" cmpd="sng" w="9525">
            <a:solidFill>
              <a:srgbClr val="37417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1"/>
          <p:cNvSpPr/>
          <p:nvPr/>
        </p:nvSpPr>
        <p:spPr>
          <a:xfrm>
            <a:off x="749808" y="4498848"/>
            <a:ext cx="4672584"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D6A64F"/>
              </a:buClr>
              <a:buSzPts val="950"/>
              <a:buFont typeface="Calibri"/>
              <a:buNone/>
            </a:pPr>
            <a:r>
              <a:rPr b="1" i="0" lang="en-US" sz="950" u="none" cap="none" strike="noStrike">
                <a:solidFill>
                  <a:srgbClr val="D6A64F"/>
                </a:solidFill>
                <a:latin typeface="Calibri"/>
                <a:ea typeface="Calibri"/>
                <a:cs typeface="Calibri"/>
                <a:sym typeface="Calibri"/>
              </a:rPr>
              <a:t>CATEGORY</a:t>
            </a:r>
            <a:endParaRPr b="0" i="0" sz="950" u="none" cap="none" strike="noStrike">
              <a:solidFill>
                <a:schemeClr val="dk1"/>
              </a:solidFill>
              <a:latin typeface="Calibri"/>
              <a:ea typeface="Calibri"/>
              <a:cs typeface="Calibri"/>
              <a:sym typeface="Calibri"/>
            </a:endParaRPr>
          </a:p>
        </p:txBody>
      </p:sp>
      <p:sp>
        <p:nvSpPr>
          <p:cNvPr id="29" name="Google Shape;29;p1"/>
          <p:cNvSpPr/>
          <p:nvPr/>
        </p:nvSpPr>
        <p:spPr>
          <a:xfrm>
            <a:off x="749808" y="4709160"/>
            <a:ext cx="4672584"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Software</a:t>
            </a:r>
            <a:endParaRPr b="0" i="0" sz="1250" u="none" cap="none" strike="noStrike">
              <a:solidFill>
                <a:schemeClr val="dk1"/>
              </a:solidFill>
              <a:latin typeface="Calibri"/>
              <a:ea typeface="Calibri"/>
              <a:cs typeface="Calibri"/>
              <a:sym typeface="Calibri"/>
            </a:endParaRPr>
          </a:p>
        </p:txBody>
      </p:sp>
      <p:sp>
        <p:nvSpPr>
          <p:cNvPr id="30" name="Google Shape;30;p1"/>
          <p:cNvSpPr/>
          <p:nvPr/>
        </p:nvSpPr>
        <p:spPr>
          <a:xfrm>
            <a:off x="5897880" y="4416552"/>
            <a:ext cx="5074920" cy="658368"/>
          </a:xfrm>
          <a:prstGeom prst="roundRect">
            <a:avLst>
              <a:gd fmla="val 9722" name="adj"/>
            </a:avLst>
          </a:prstGeom>
          <a:solidFill>
            <a:srgbClr val="232D6E"/>
          </a:solidFill>
          <a:ln cap="flat" cmpd="sng" w="9525">
            <a:solidFill>
              <a:srgbClr val="37417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1"/>
          <p:cNvSpPr/>
          <p:nvPr/>
        </p:nvSpPr>
        <p:spPr>
          <a:xfrm>
            <a:off x="6099048" y="4498848"/>
            <a:ext cx="4672584"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D6A64F"/>
              </a:buClr>
              <a:buSzPts val="950"/>
              <a:buFont typeface="Calibri"/>
              <a:buNone/>
            </a:pPr>
            <a:r>
              <a:rPr b="1" i="0" lang="en-US" sz="950" u="none" cap="none" strike="noStrike">
                <a:solidFill>
                  <a:srgbClr val="D6A64F"/>
                </a:solidFill>
                <a:latin typeface="Calibri"/>
                <a:ea typeface="Calibri"/>
                <a:cs typeface="Calibri"/>
                <a:sym typeface="Calibri"/>
              </a:rPr>
              <a:t>TEAM NAME</a:t>
            </a:r>
            <a:endParaRPr b="0" i="0" sz="950" u="none" cap="none" strike="noStrike">
              <a:solidFill>
                <a:schemeClr val="dk1"/>
              </a:solidFill>
              <a:latin typeface="Calibri"/>
              <a:ea typeface="Calibri"/>
              <a:cs typeface="Calibri"/>
              <a:sym typeface="Calibri"/>
            </a:endParaRPr>
          </a:p>
        </p:txBody>
      </p:sp>
      <p:sp>
        <p:nvSpPr>
          <p:cNvPr id="32" name="Google Shape;32;p1"/>
          <p:cNvSpPr/>
          <p:nvPr/>
        </p:nvSpPr>
        <p:spPr>
          <a:xfrm>
            <a:off x="6099048" y="4709160"/>
            <a:ext cx="4672584"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50"/>
              <a:buFont typeface="Calibri"/>
              <a:buNone/>
            </a:pPr>
            <a:r>
              <a:rPr lang="en-US" sz="1250">
                <a:solidFill>
                  <a:srgbClr val="FFFFFF"/>
                </a:solidFill>
                <a:latin typeface="Calibri"/>
                <a:ea typeface="Calibri"/>
                <a:cs typeface="Calibri"/>
                <a:sym typeface="Calibri"/>
              </a:rPr>
              <a:t>Deadlocked</a:t>
            </a:r>
            <a:endParaRPr b="0" i="0" sz="1250" u="none" cap="none" strike="noStrike">
              <a:solidFill>
                <a:schemeClr val="dk1"/>
              </a:solidFill>
              <a:latin typeface="Calibri"/>
              <a:ea typeface="Calibri"/>
              <a:cs typeface="Calibri"/>
              <a:sym typeface="Calibri"/>
            </a:endParaRPr>
          </a:p>
        </p:txBody>
      </p:sp>
      <p:sp>
        <p:nvSpPr>
          <p:cNvPr id="33" name="Google Shape;33;p1"/>
          <p:cNvSpPr/>
          <p:nvPr/>
        </p:nvSpPr>
        <p:spPr>
          <a:xfrm>
            <a:off x="548640" y="5221224"/>
            <a:ext cx="5074920" cy="658368"/>
          </a:xfrm>
          <a:prstGeom prst="roundRect">
            <a:avLst>
              <a:gd fmla="val 9722" name="adj"/>
            </a:avLst>
          </a:prstGeom>
          <a:solidFill>
            <a:srgbClr val="232D6E"/>
          </a:solidFill>
          <a:ln cap="flat" cmpd="sng" w="9525">
            <a:solidFill>
              <a:srgbClr val="37417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1"/>
          <p:cNvSpPr/>
          <p:nvPr/>
        </p:nvSpPr>
        <p:spPr>
          <a:xfrm>
            <a:off x="749808" y="5303520"/>
            <a:ext cx="4672584"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D6A64F"/>
              </a:buClr>
              <a:buSzPts val="950"/>
              <a:buFont typeface="Calibri"/>
              <a:buNone/>
            </a:pPr>
            <a:r>
              <a:rPr b="1" i="0" lang="en-US" sz="950" u="none" cap="none" strike="noStrike">
                <a:solidFill>
                  <a:srgbClr val="D6A64F"/>
                </a:solidFill>
                <a:latin typeface="Calibri"/>
                <a:ea typeface="Calibri"/>
                <a:cs typeface="Calibri"/>
                <a:sym typeface="Calibri"/>
              </a:rPr>
              <a:t>TEAM LEADER</a:t>
            </a:r>
            <a:endParaRPr b="0" i="0" sz="950" u="none" cap="none" strike="noStrike">
              <a:solidFill>
                <a:schemeClr val="dk1"/>
              </a:solidFill>
              <a:latin typeface="Calibri"/>
              <a:ea typeface="Calibri"/>
              <a:cs typeface="Calibri"/>
              <a:sym typeface="Calibri"/>
            </a:endParaRPr>
          </a:p>
        </p:txBody>
      </p:sp>
      <p:sp>
        <p:nvSpPr>
          <p:cNvPr id="35" name="Google Shape;35;p1"/>
          <p:cNvSpPr/>
          <p:nvPr/>
        </p:nvSpPr>
        <p:spPr>
          <a:xfrm>
            <a:off x="749808" y="5513832"/>
            <a:ext cx="4672584"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50"/>
              <a:buFont typeface="Calibri"/>
              <a:buNone/>
            </a:pPr>
            <a:r>
              <a:rPr lang="en-US" sz="1250">
                <a:solidFill>
                  <a:srgbClr val="FFFFFF"/>
                </a:solidFill>
                <a:latin typeface="Calibri"/>
                <a:ea typeface="Calibri"/>
                <a:cs typeface="Calibri"/>
                <a:sym typeface="Calibri"/>
              </a:rPr>
              <a:t>Rithwik Sriram (24f3001829)</a:t>
            </a:r>
            <a:endParaRPr b="0" i="0" sz="1250" u="none" cap="none" strike="noStrike">
              <a:solidFill>
                <a:schemeClr val="dk1"/>
              </a:solidFill>
              <a:latin typeface="Calibri"/>
              <a:ea typeface="Calibri"/>
              <a:cs typeface="Calibri"/>
              <a:sym typeface="Calibri"/>
            </a:endParaRPr>
          </a:p>
        </p:txBody>
      </p:sp>
      <p:sp>
        <p:nvSpPr>
          <p:cNvPr id="36" name="Google Shape;36;p1"/>
          <p:cNvSpPr/>
          <p:nvPr/>
        </p:nvSpPr>
        <p:spPr>
          <a:xfrm>
            <a:off x="5897880" y="5221224"/>
            <a:ext cx="5074920" cy="658368"/>
          </a:xfrm>
          <a:prstGeom prst="roundRect">
            <a:avLst>
              <a:gd fmla="val 9722" name="adj"/>
            </a:avLst>
          </a:prstGeom>
          <a:solidFill>
            <a:srgbClr val="232D6E"/>
          </a:solidFill>
          <a:ln cap="flat" cmpd="sng" w="9525">
            <a:solidFill>
              <a:srgbClr val="37417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
          <p:cNvSpPr/>
          <p:nvPr/>
        </p:nvSpPr>
        <p:spPr>
          <a:xfrm>
            <a:off x="6099048" y="5303520"/>
            <a:ext cx="4672584" cy="2011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D6A64F"/>
              </a:buClr>
              <a:buSzPts val="950"/>
              <a:buFont typeface="Calibri"/>
              <a:buNone/>
            </a:pPr>
            <a:r>
              <a:rPr b="1" i="0" lang="en-US" sz="950" u="none" cap="none" strike="noStrike">
                <a:solidFill>
                  <a:srgbClr val="D6A64F"/>
                </a:solidFill>
                <a:latin typeface="Calibri"/>
                <a:ea typeface="Calibri"/>
                <a:cs typeface="Calibri"/>
                <a:sym typeface="Calibri"/>
              </a:rPr>
              <a:t>INSTITUTE</a:t>
            </a:r>
            <a:endParaRPr b="0" i="0" sz="950" u="none" cap="none" strike="noStrike">
              <a:solidFill>
                <a:schemeClr val="dk1"/>
              </a:solidFill>
              <a:latin typeface="Calibri"/>
              <a:ea typeface="Calibri"/>
              <a:cs typeface="Calibri"/>
              <a:sym typeface="Calibri"/>
            </a:endParaRPr>
          </a:p>
        </p:txBody>
      </p:sp>
      <p:sp>
        <p:nvSpPr>
          <p:cNvPr id="38" name="Google Shape;38;p1"/>
          <p:cNvSpPr/>
          <p:nvPr/>
        </p:nvSpPr>
        <p:spPr>
          <a:xfrm>
            <a:off x="6099048" y="5513832"/>
            <a:ext cx="4672584"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250"/>
              <a:buFont typeface="Calibri"/>
              <a:buNone/>
            </a:pPr>
            <a:r>
              <a:rPr b="0" i="0" lang="en-US" sz="1250" u="none" cap="none" strike="noStrike">
                <a:solidFill>
                  <a:srgbClr val="FFFFFF"/>
                </a:solidFill>
                <a:latin typeface="Calibri"/>
                <a:ea typeface="Calibri"/>
                <a:cs typeface="Calibri"/>
                <a:sym typeface="Calibri"/>
              </a:rPr>
              <a:t>IIT Madras BS Degree Programme</a:t>
            </a:r>
            <a:endParaRPr b="0" i="0" sz="1250" u="none" cap="none" strike="noStrike">
              <a:solidFill>
                <a:schemeClr val="dk1"/>
              </a:solidFill>
              <a:latin typeface="Calibri"/>
              <a:ea typeface="Calibri"/>
              <a:cs typeface="Calibri"/>
              <a:sym typeface="Calibri"/>
            </a:endParaRPr>
          </a:p>
        </p:txBody>
      </p:sp>
      <p:cxnSp>
        <p:nvCxnSpPr>
          <p:cNvPr id="39" name="Google Shape;39;p1"/>
          <p:cNvCxnSpPr/>
          <p:nvPr/>
        </p:nvCxnSpPr>
        <p:spPr>
          <a:xfrm>
            <a:off x="548640" y="6272784"/>
            <a:ext cx="11091672" cy="0"/>
          </a:xfrm>
          <a:prstGeom prst="straightConnector1">
            <a:avLst/>
          </a:prstGeom>
          <a:noFill/>
          <a:ln cap="flat" cmpd="sng" w="12700">
            <a:solidFill>
              <a:srgbClr val="2C3468"/>
            </a:solidFill>
            <a:prstDash val="solid"/>
            <a:round/>
            <a:headEnd len="sm" w="sm" type="none"/>
            <a:tailEnd len="sm" w="sm" type="none"/>
          </a:ln>
        </p:spPr>
      </p:cxnSp>
      <p:sp>
        <p:nvSpPr>
          <p:cNvPr id="40" name="Google Shape;40;p1"/>
          <p:cNvSpPr/>
          <p:nvPr/>
        </p:nvSpPr>
        <p:spPr>
          <a:xfrm>
            <a:off x="548640" y="6382512"/>
            <a:ext cx="10058400" cy="29260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D6A64F"/>
              </a:buClr>
              <a:buSzPts val="1000"/>
              <a:buFont typeface="Calibri"/>
              <a:buNone/>
            </a:pPr>
            <a:r>
              <a:rPr b="1" i="0" lang="en-US" sz="1000" u="none" cap="none" strike="noStrike">
                <a:solidFill>
                  <a:srgbClr val="D6A64F"/>
                </a:solidFill>
                <a:latin typeface="Calibri"/>
                <a:ea typeface="Calibri"/>
                <a:cs typeface="Calibri"/>
                <a:sym typeface="Calibri"/>
              </a:rPr>
              <a:t>IITM BS Degree Programme</a:t>
            </a:r>
            <a:r>
              <a:rPr b="0" i="0" lang="en-US" sz="1000" u="none" cap="none" strike="noStrike">
                <a:solidFill>
                  <a:srgbClr val="CBD8F5"/>
                </a:solidFill>
                <a:latin typeface="Calibri"/>
                <a:ea typeface="Calibri"/>
                <a:cs typeface="Calibri"/>
                <a:sym typeface="Calibri"/>
              </a:rPr>
              <a:t>   ·   Presentatio</a:t>
            </a:r>
            <a:r>
              <a:rPr lang="en-US" sz="1000">
                <a:solidFill>
                  <a:srgbClr val="CBD8F5"/>
                </a:solidFill>
                <a:latin typeface="Calibri"/>
                <a:ea typeface="Calibri"/>
                <a:cs typeface="Calibri"/>
                <a:sym typeface="Calibri"/>
              </a:rPr>
              <a:t>n</a:t>
            </a:r>
            <a:r>
              <a:rPr b="0" i="0" lang="en-US" sz="1000" u="none" cap="none" strike="noStrike">
                <a:solidFill>
                  <a:srgbClr val="CBD8F5"/>
                </a:solidFill>
                <a:latin typeface="Calibri"/>
                <a:ea typeface="Calibri"/>
                <a:cs typeface="Calibri"/>
                <a:sym typeface="Calibri"/>
              </a:rPr>
              <a:t>, Round 3 SIH Internal Hackathon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 name="Shape 45"/>
        <p:cNvGrpSpPr/>
        <p:nvPr/>
      </p:nvGrpSpPr>
      <p:grpSpPr>
        <a:xfrm>
          <a:off x="0" y="0"/>
          <a:ext cx="0" cy="0"/>
          <a:chOff x="0" y="0"/>
          <a:chExt cx="0" cy="0"/>
        </a:xfrm>
      </p:grpSpPr>
      <p:sp>
        <p:nvSpPr>
          <p:cNvPr id="46" name="Google Shape;46;p2"/>
          <p:cNvSpPr/>
          <p:nvPr/>
        </p:nvSpPr>
        <p:spPr>
          <a:xfrm>
            <a:off x="548640" y="420624"/>
            <a:ext cx="365760" cy="365760"/>
          </a:xfrm>
          <a:prstGeom prst="ellipse">
            <a:avLst/>
          </a:prstGeom>
          <a:solidFill>
            <a:srgbClr val="781F19"/>
          </a:solidFill>
          <a:ln cap="flat" cmpd="sng" w="15875">
            <a:solidFill>
              <a:srgbClr val="D6A64F"/>
            </a:solidFill>
            <a:prstDash val="solid"/>
            <a:round/>
            <a:headEnd len="sm" w="sm" type="none"/>
            <a:tailEnd len="sm" w="sm" type="none"/>
          </a:ln>
          <a:effectLst>
            <a:outerShdw blurRad="76200" rotWithShape="0" algn="bl" dir="5400000" dist="19050">
              <a:srgbClr val="1B1F3B">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2"/>
          <p:cNvSpPr/>
          <p:nvPr/>
        </p:nvSpPr>
        <p:spPr>
          <a:xfrm>
            <a:off x="548640" y="420624"/>
            <a:ext cx="365760" cy="3657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1</a:t>
            </a:r>
            <a:endParaRPr b="0" i="0" sz="1500" u="none" cap="none" strike="noStrike">
              <a:solidFill>
                <a:schemeClr val="dk1"/>
              </a:solidFill>
              <a:latin typeface="Calibri"/>
              <a:ea typeface="Calibri"/>
              <a:cs typeface="Calibri"/>
              <a:sym typeface="Calibri"/>
            </a:endParaRPr>
          </a:p>
        </p:txBody>
      </p:sp>
      <p:sp>
        <p:nvSpPr>
          <p:cNvPr id="48" name="Google Shape;48;p2"/>
          <p:cNvSpPr/>
          <p:nvPr/>
        </p:nvSpPr>
        <p:spPr>
          <a:xfrm>
            <a:off x="1051560" y="402336"/>
            <a:ext cx="548640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81F19"/>
              </a:buClr>
              <a:buSzPts val="1250"/>
              <a:buFont typeface="Calibri"/>
              <a:buNone/>
            </a:pPr>
            <a:r>
              <a:rPr b="1" i="0" lang="en-US" sz="1250" u="none" cap="none" strike="noStrike">
                <a:solidFill>
                  <a:srgbClr val="781F19"/>
                </a:solidFill>
                <a:latin typeface="Calibri"/>
                <a:ea typeface="Calibri"/>
                <a:cs typeface="Calibri"/>
                <a:sym typeface="Calibri"/>
              </a:rPr>
              <a:t>SECTION 01</a:t>
            </a:r>
            <a:endParaRPr b="0" i="0" sz="1250" u="none" cap="none" strike="noStrike">
              <a:solidFill>
                <a:schemeClr val="dk1"/>
              </a:solidFill>
              <a:latin typeface="Calibri"/>
              <a:ea typeface="Calibri"/>
              <a:cs typeface="Calibri"/>
              <a:sym typeface="Calibri"/>
            </a:endParaRPr>
          </a:p>
        </p:txBody>
      </p:sp>
      <p:sp>
        <p:nvSpPr>
          <p:cNvPr id="49" name="Google Shape;49;p2"/>
          <p:cNvSpPr/>
          <p:nvPr/>
        </p:nvSpPr>
        <p:spPr>
          <a:xfrm>
            <a:off x="1051560" y="621792"/>
            <a:ext cx="950976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Team Details</a:t>
            </a:r>
            <a:endParaRPr b="0" i="0" sz="2800" u="none" cap="none" strike="noStrike">
              <a:solidFill>
                <a:schemeClr val="dk1"/>
              </a:solidFill>
              <a:latin typeface="Calibri"/>
              <a:ea typeface="Calibri"/>
              <a:cs typeface="Calibri"/>
              <a:sym typeface="Calibri"/>
            </a:endParaRPr>
          </a:p>
        </p:txBody>
      </p:sp>
      <p:sp>
        <p:nvSpPr>
          <p:cNvPr id="50" name="Google Shape;50;p2"/>
          <p:cNvSpPr/>
          <p:nvPr/>
        </p:nvSpPr>
        <p:spPr>
          <a:xfrm>
            <a:off x="10981944" y="292608"/>
            <a:ext cx="658368" cy="658368"/>
          </a:xfrm>
          <a:prstGeom prst="ellipse">
            <a:avLst/>
          </a:prstGeom>
          <a:solidFill>
            <a:srgbClr val="FFFFFF"/>
          </a:solidFill>
          <a:ln cap="flat" cmpd="sng" w="19050">
            <a:solidFill>
              <a:srgbClr val="D6A64F"/>
            </a:solidFill>
            <a:prstDash val="solid"/>
            <a:round/>
            <a:headEnd len="sm" w="sm" type="none"/>
            <a:tailEnd len="sm" w="sm" type="none"/>
          </a:ln>
          <a:effectLst>
            <a:outerShdw blurRad="127000" rotWithShape="0" algn="bl" dir="5400000" dist="38100">
              <a:srgbClr val="1B1F3B">
                <a:alpha val="2196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iitm_bs_logo.png" id="51" name="Google Shape;51;p2"/>
          <p:cNvPicPr preferRelativeResize="0"/>
          <p:nvPr/>
        </p:nvPicPr>
        <p:blipFill rotWithShape="1">
          <a:blip r:embed="rId3">
            <a:alphaModFix/>
          </a:blip>
          <a:srcRect b="0" l="0" r="0" t="0"/>
          <a:stretch/>
        </p:blipFill>
        <p:spPr>
          <a:xfrm>
            <a:off x="11064240" y="374904"/>
            <a:ext cx="493776" cy="493776"/>
          </a:xfrm>
          <a:prstGeom prst="rect">
            <a:avLst/>
          </a:prstGeom>
          <a:noFill/>
          <a:ln>
            <a:noFill/>
          </a:ln>
        </p:spPr>
      </p:pic>
      <p:sp>
        <p:nvSpPr>
          <p:cNvPr id="52" name="Google Shape;52;p2"/>
          <p:cNvSpPr/>
          <p:nvPr/>
        </p:nvSpPr>
        <p:spPr>
          <a:xfrm>
            <a:off x="768096" y="1618488"/>
            <a:ext cx="329100" cy="329100"/>
          </a:xfrm>
          <a:prstGeom prst="ellipse">
            <a:avLst/>
          </a:prstGeom>
          <a:solidFill>
            <a:srgbClr val="D6A6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2"/>
          <p:cNvSpPr/>
          <p:nvPr/>
        </p:nvSpPr>
        <p:spPr>
          <a:xfrm>
            <a:off x="768096" y="1618488"/>
            <a:ext cx="329100" cy="329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2173D"/>
              </a:buClr>
              <a:buSzPts val="1500"/>
              <a:buFont typeface="Calibri"/>
              <a:buNone/>
            </a:pPr>
            <a:r>
              <a:rPr b="1" i="0" lang="en-US" sz="1500" u="none" cap="none" strike="noStrike">
                <a:solidFill>
                  <a:srgbClr val="12173D"/>
                </a:solidFill>
                <a:latin typeface="Calibri"/>
                <a:ea typeface="Calibri"/>
                <a:cs typeface="Calibri"/>
                <a:sym typeface="Calibri"/>
              </a:rPr>
              <a:t>i</a:t>
            </a:r>
            <a:endParaRPr b="0" i="0" sz="1500" u="none" cap="none" strike="noStrike">
              <a:solidFill>
                <a:schemeClr val="dk1"/>
              </a:solidFill>
              <a:latin typeface="Calibri"/>
              <a:ea typeface="Calibri"/>
              <a:cs typeface="Calibri"/>
              <a:sym typeface="Calibri"/>
            </a:endParaRPr>
          </a:p>
        </p:txBody>
      </p:sp>
      <p:sp>
        <p:nvSpPr>
          <p:cNvPr id="54" name="Google Shape;54;p2"/>
          <p:cNvSpPr/>
          <p:nvPr/>
        </p:nvSpPr>
        <p:spPr>
          <a:xfrm>
            <a:off x="1207008" y="1618488"/>
            <a:ext cx="4114800" cy="32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81F19"/>
              </a:buClr>
              <a:buSzPts val="1100"/>
              <a:buFont typeface="Calibri"/>
              <a:buNone/>
            </a:pPr>
            <a:r>
              <a:rPr b="1" lang="en-US" sz="1500">
                <a:solidFill>
                  <a:srgbClr val="781F19"/>
                </a:solidFill>
                <a:latin typeface="Calibri"/>
                <a:ea typeface="Calibri"/>
                <a:cs typeface="Calibri"/>
                <a:sym typeface="Calibri"/>
              </a:rPr>
              <a:t>PROJECT OVERVIEW</a:t>
            </a:r>
            <a:endParaRPr b="0" i="0" sz="1500" u="none" cap="none" strike="noStrike">
              <a:solidFill>
                <a:schemeClr val="dk1"/>
              </a:solidFill>
              <a:latin typeface="Calibri"/>
              <a:ea typeface="Calibri"/>
              <a:cs typeface="Calibri"/>
              <a:sym typeface="Calibri"/>
            </a:endParaRPr>
          </a:p>
        </p:txBody>
      </p:sp>
      <p:cxnSp>
        <p:nvCxnSpPr>
          <p:cNvPr id="55" name="Google Shape;55;p2"/>
          <p:cNvCxnSpPr/>
          <p:nvPr/>
        </p:nvCxnSpPr>
        <p:spPr>
          <a:xfrm>
            <a:off x="804672" y="2093976"/>
            <a:ext cx="4517100" cy="0"/>
          </a:xfrm>
          <a:prstGeom prst="straightConnector1">
            <a:avLst/>
          </a:prstGeom>
          <a:noFill/>
          <a:ln cap="flat" cmpd="sng" w="12700">
            <a:solidFill>
              <a:srgbClr val="E9DFC0"/>
            </a:solidFill>
            <a:prstDash val="solid"/>
            <a:round/>
            <a:headEnd len="sm" w="sm" type="none"/>
            <a:tailEnd len="sm" w="sm" type="none"/>
          </a:ln>
        </p:spPr>
      </p:cxnSp>
      <p:sp>
        <p:nvSpPr>
          <p:cNvPr id="56" name="Google Shape;56;p2"/>
          <p:cNvSpPr/>
          <p:nvPr/>
        </p:nvSpPr>
        <p:spPr>
          <a:xfrm>
            <a:off x="6626860" y="1417320"/>
            <a:ext cx="5212200" cy="4800600"/>
          </a:xfrm>
          <a:prstGeom prst="roundRect">
            <a:avLst>
              <a:gd fmla="val 1714" name="adj"/>
            </a:avLst>
          </a:prstGeom>
          <a:solidFill>
            <a:srgbClr val="F5F6FA"/>
          </a:solidFill>
          <a:ln cap="flat" cmpd="sng" w="12700">
            <a:solidFill>
              <a:srgbClr val="E7E9F0"/>
            </a:solidFill>
            <a:prstDash val="solid"/>
            <a:round/>
            <a:headEnd len="sm" w="sm" type="none"/>
            <a:tailEnd len="sm" w="sm" type="none"/>
          </a:ln>
          <a:effectLst>
            <a:outerShdw blurRad="114300" rotWithShape="0" algn="bl" dir="5400000" dist="25400">
              <a:srgbClr val="1B1F3B">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2"/>
          <p:cNvSpPr/>
          <p:nvPr/>
        </p:nvSpPr>
        <p:spPr>
          <a:xfrm>
            <a:off x="6626860" y="1417320"/>
            <a:ext cx="5212200" cy="365700"/>
          </a:xfrm>
          <a:prstGeom prst="roundRect">
            <a:avLst>
              <a:gd fmla="val 22500" name="adj"/>
            </a:avLst>
          </a:prstGeom>
          <a:solidFill>
            <a:srgbClr val="1E27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2"/>
          <p:cNvSpPr/>
          <p:nvPr/>
        </p:nvSpPr>
        <p:spPr>
          <a:xfrm>
            <a:off x="6626860" y="1600200"/>
            <a:ext cx="5212200" cy="183000"/>
          </a:xfrm>
          <a:prstGeom prst="rect">
            <a:avLst/>
          </a:prstGeom>
          <a:solidFill>
            <a:srgbClr val="1E27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2"/>
          <p:cNvSpPr/>
          <p:nvPr/>
        </p:nvSpPr>
        <p:spPr>
          <a:xfrm>
            <a:off x="6846316" y="1417320"/>
            <a:ext cx="15546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Member</a:t>
            </a:r>
            <a:endParaRPr b="0" i="0" sz="1100" u="none" cap="none" strike="noStrike">
              <a:solidFill>
                <a:schemeClr val="dk1"/>
              </a:solidFill>
              <a:latin typeface="Calibri"/>
              <a:ea typeface="Calibri"/>
              <a:cs typeface="Calibri"/>
              <a:sym typeface="Calibri"/>
            </a:endParaRPr>
          </a:p>
        </p:txBody>
      </p:sp>
      <p:sp>
        <p:nvSpPr>
          <p:cNvPr id="60" name="Google Shape;60;p2"/>
          <p:cNvSpPr/>
          <p:nvPr/>
        </p:nvSpPr>
        <p:spPr>
          <a:xfrm>
            <a:off x="8400796" y="1417320"/>
            <a:ext cx="17373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Name</a:t>
            </a:r>
            <a:endParaRPr b="0" i="0" sz="1100" u="none" cap="none" strike="noStrike">
              <a:solidFill>
                <a:schemeClr val="dk1"/>
              </a:solidFill>
              <a:latin typeface="Calibri"/>
              <a:ea typeface="Calibri"/>
              <a:cs typeface="Calibri"/>
              <a:sym typeface="Calibri"/>
            </a:endParaRPr>
          </a:p>
        </p:txBody>
      </p:sp>
      <p:sp>
        <p:nvSpPr>
          <p:cNvPr id="61" name="Google Shape;61;p2"/>
          <p:cNvSpPr/>
          <p:nvPr/>
        </p:nvSpPr>
        <p:spPr>
          <a:xfrm>
            <a:off x="10138156" y="1417320"/>
            <a:ext cx="1481400" cy="365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Role / Contribution</a:t>
            </a:r>
            <a:endParaRPr b="0" i="0" sz="1100" u="none" cap="none" strike="noStrike">
              <a:solidFill>
                <a:schemeClr val="dk1"/>
              </a:solidFill>
              <a:latin typeface="Calibri"/>
              <a:ea typeface="Calibri"/>
              <a:cs typeface="Calibri"/>
              <a:sym typeface="Calibri"/>
            </a:endParaRPr>
          </a:p>
        </p:txBody>
      </p:sp>
      <p:sp>
        <p:nvSpPr>
          <p:cNvPr id="62" name="Google Shape;62;p2"/>
          <p:cNvSpPr/>
          <p:nvPr/>
        </p:nvSpPr>
        <p:spPr>
          <a:xfrm>
            <a:off x="6846316" y="1783080"/>
            <a:ext cx="1554600" cy="739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1150"/>
              <a:buFont typeface="Calibri"/>
              <a:buNone/>
            </a:pPr>
            <a:r>
              <a:rPr b="1" i="0" lang="en-US" sz="1150" u="none" cap="none" strike="noStrike">
                <a:solidFill>
                  <a:srgbClr val="1E2761"/>
                </a:solidFill>
                <a:latin typeface="Calibri"/>
                <a:ea typeface="Calibri"/>
                <a:cs typeface="Calibri"/>
                <a:sym typeface="Calibri"/>
              </a:rPr>
              <a:t>Team Leader</a:t>
            </a:r>
            <a:endParaRPr b="0" i="0" sz="1150" u="none" cap="none" strike="noStrike">
              <a:solidFill>
                <a:schemeClr val="dk1"/>
              </a:solidFill>
              <a:latin typeface="Calibri"/>
              <a:ea typeface="Calibri"/>
              <a:cs typeface="Calibri"/>
              <a:sym typeface="Calibri"/>
            </a:endParaRPr>
          </a:p>
        </p:txBody>
      </p:sp>
      <p:sp>
        <p:nvSpPr>
          <p:cNvPr id="63" name="Google Shape;63;p2"/>
          <p:cNvSpPr/>
          <p:nvPr/>
        </p:nvSpPr>
        <p:spPr>
          <a:xfrm>
            <a:off x="8400796" y="1783080"/>
            <a:ext cx="1737300" cy="739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66B74"/>
              </a:buClr>
              <a:buSzPts val="1150"/>
              <a:buFont typeface="Calibri"/>
              <a:buNone/>
            </a:pPr>
            <a:r>
              <a:rPr b="1" i="1" lang="en-US" sz="1150">
                <a:solidFill>
                  <a:srgbClr val="666B74"/>
                </a:solidFill>
                <a:latin typeface="Calibri"/>
                <a:ea typeface="Calibri"/>
                <a:cs typeface="Calibri"/>
                <a:sym typeface="Calibri"/>
              </a:rPr>
              <a:t>Rithwik Sriram</a:t>
            </a:r>
            <a:endParaRPr b="1" i="0" sz="1150" u="none" cap="none" strike="noStrike">
              <a:solidFill>
                <a:schemeClr val="dk1"/>
              </a:solidFill>
              <a:latin typeface="Calibri"/>
              <a:ea typeface="Calibri"/>
              <a:cs typeface="Calibri"/>
              <a:sym typeface="Calibri"/>
            </a:endParaRPr>
          </a:p>
        </p:txBody>
      </p:sp>
      <p:sp>
        <p:nvSpPr>
          <p:cNvPr id="64" name="Google Shape;64;p2"/>
          <p:cNvSpPr/>
          <p:nvPr/>
        </p:nvSpPr>
        <p:spPr>
          <a:xfrm>
            <a:off x="10138156" y="1783080"/>
            <a:ext cx="1481400" cy="739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66B74"/>
              </a:buClr>
              <a:buSzPts val="1150"/>
              <a:buFont typeface="Calibri"/>
              <a:buNone/>
            </a:pPr>
            <a:r>
              <a:rPr b="1" i="1" lang="en-US" sz="1150">
                <a:solidFill>
                  <a:srgbClr val="666B74"/>
                </a:solidFill>
                <a:latin typeface="Calibri"/>
                <a:ea typeface="Calibri"/>
                <a:cs typeface="Calibri"/>
                <a:sym typeface="Calibri"/>
              </a:rPr>
              <a:t>Project Manager / Leader</a:t>
            </a:r>
            <a:endParaRPr b="1" i="0" sz="1150" u="none" cap="none" strike="noStrike">
              <a:solidFill>
                <a:schemeClr val="dk1"/>
              </a:solidFill>
              <a:latin typeface="Calibri"/>
              <a:ea typeface="Calibri"/>
              <a:cs typeface="Calibri"/>
              <a:sym typeface="Calibri"/>
            </a:endParaRPr>
          </a:p>
        </p:txBody>
      </p:sp>
      <p:cxnSp>
        <p:nvCxnSpPr>
          <p:cNvPr id="65" name="Google Shape;65;p2"/>
          <p:cNvCxnSpPr/>
          <p:nvPr/>
        </p:nvCxnSpPr>
        <p:spPr>
          <a:xfrm>
            <a:off x="6626860" y="2522220"/>
            <a:ext cx="5212200" cy="0"/>
          </a:xfrm>
          <a:prstGeom prst="straightConnector1">
            <a:avLst/>
          </a:prstGeom>
          <a:noFill/>
          <a:ln cap="flat" cmpd="sng" w="12700">
            <a:solidFill>
              <a:srgbClr val="E7E9F0"/>
            </a:solidFill>
            <a:prstDash val="solid"/>
            <a:round/>
            <a:headEnd len="sm" w="sm" type="none"/>
            <a:tailEnd len="sm" w="sm" type="none"/>
          </a:ln>
        </p:spPr>
      </p:cxnSp>
      <p:sp>
        <p:nvSpPr>
          <p:cNvPr id="66" name="Google Shape;66;p2"/>
          <p:cNvSpPr/>
          <p:nvPr/>
        </p:nvSpPr>
        <p:spPr>
          <a:xfrm>
            <a:off x="6626860" y="2522220"/>
            <a:ext cx="5212200" cy="739200"/>
          </a:xfrm>
          <a:prstGeom prst="rect">
            <a:avLst/>
          </a:prstGeom>
          <a:solidFill>
            <a:srgbClr val="F5F6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2"/>
          <p:cNvSpPr/>
          <p:nvPr/>
        </p:nvSpPr>
        <p:spPr>
          <a:xfrm>
            <a:off x="6846316" y="2522220"/>
            <a:ext cx="1554600" cy="739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1150"/>
              <a:buFont typeface="Calibri"/>
              <a:buNone/>
            </a:pPr>
            <a:r>
              <a:rPr b="1" i="0" lang="en-US" sz="1150" u="none" cap="none" strike="noStrike">
                <a:solidFill>
                  <a:srgbClr val="1E2761"/>
                </a:solidFill>
                <a:latin typeface="Calibri"/>
                <a:ea typeface="Calibri"/>
                <a:cs typeface="Calibri"/>
                <a:sym typeface="Calibri"/>
              </a:rPr>
              <a:t>Member 2</a:t>
            </a:r>
            <a:endParaRPr b="0" i="0" sz="1150" u="none" cap="none" strike="noStrike">
              <a:solidFill>
                <a:schemeClr val="dk1"/>
              </a:solidFill>
              <a:latin typeface="Calibri"/>
              <a:ea typeface="Calibri"/>
              <a:cs typeface="Calibri"/>
              <a:sym typeface="Calibri"/>
            </a:endParaRPr>
          </a:p>
        </p:txBody>
      </p:sp>
      <p:sp>
        <p:nvSpPr>
          <p:cNvPr id="68" name="Google Shape;68;p2"/>
          <p:cNvSpPr/>
          <p:nvPr/>
        </p:nvSpPr>
        <p:spPr>
          <a:xfrm>
            <a:off x="8400796" y="2522220"/>
            <a:ext cx="1737300" cy="739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66B74"/>
              </a:buClr>
              <a:buSzPts val="1150"/>
              <a:buFont typeface="Calibri"/>
              <a:buNone/>
            </a:pPr>
            <a:r>
              <a:rPr b="1" i="1" lang="en-US" sz="1150">
                <a:solidFill>
                  <a:srgbClr val="666B74"/>
                </a:solidFill>
                <a:latin typeface="Calibri"/>
                <a:ea typeface="Calibri"/>
                <a:cs typeface="Calibri"/>
                <a:sym typeface="Calibri"/>
              </a:rPr>
              <a:t>Sahil Singh</a:t>
            </a:r>
            <a:endParaRPr b="1" i="0" sz="1150" u="none" cap="none" strike="noStrike">
              <a:solidFill>
                <a:schemeClr val="dk1"/>
              </a:solidFill>
              <a:latin typeface="Calibri"/>
              <a:ea typeface="Calibri"/>
              <a:cs typeface="Calibri"/>
              <a:sym typeface="Calibri"/>
            </a:endParaRPr>
          </a:p>
        </p:txBody>
      </p:sp>
      <p:sp>
        <p:nvSpPr>
          <p:cNvPr id="69" name="Google Shape;69;p2"/>
          <p:cNvSpPr/>
          <p:nvPr/>
        </p:nvSpPr>
        <p:spPr>
          <a:xfrm>
            <a:off x="10138156" y="2522220"/>
            <a:ext cx="1481400" cy="739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66B74"/>
              </a:buClr>
              <a:buSzPts val="1150"/>
              <a:buFont typeface="Calibri"/>
              <a:buNone/>
            </a:pPr>
            <a:r>
              <a:rPr b="1" i="1" lang="en-US" sz="1150">
                <a:solidFill>
                  <a:srgbClr val="666B74"/>
                </a:solidFill>
                <a:latin typeface="Calibri"/>
                <a:ea typeface="Calibri"/>
                <a:cs typeface="Calibri"/>
                <a:sym typeface="Calibri"/>
              </a:rPr>
              <a:t>Backend</a:t>
            </a:r>
            <a:endParaRPr b="1" i="0" sz="1150" u="none" cap="none" strike="noStrike">
              <a:solidFill>
                <a:schemeClr val="dk1"/>
              </a:solidFill>
              <a:latin typeface="Calibri"/>
              <a:ea typeface="Calibri"/>
              <a:cs typeface="Calibri"/>
              <a:sym typeface="Calibri"/>
            </a:endParaRPr>
          </a:p>
        </p:txBody>
      </p:sp>
      <p:cxnSp>
        <p:nvCxnSpPr>
          <p:cNvPr id="70" name="Google Shape;70;p2"/>
          <p:cNvCxnSpPr/>
          <p:nvPr/>
        </p:nvCxnSpPr>
        <p:spPr>
          <a:xfrm>
            <a:off x="6626860" y="3261360"/>
            <a:ext cx="5212200" cy="0"/>
          </a:xfrm>
          <a:prstGeom prst="straightConnector1">
            <a:avLst/>
          </a:prstGeom>
          <a:noFill/>
          <a:ln cap="flat" cmpd="sng" w="12700">
            <a:solidFill>
              <a:srgbClr val="E7E9F0"/>
            </a:solidFill>
            <a:prstDash val="solid"/>
            <a:round/>
            <a:headEnd len="sm" w="sm" type="none"/>
            <a:tailEnd len="sm" w="sm" type="none"/>
          </a:ln>
        </p:spPr>
      </p:cxnSp>
      <p:sp>
        <p:nvSpPr>
          <p:cNvPr id="71" name="Google Shape;71;p2"/>
          <p:cNvSpPr/>
          <p:nvPr/>
        </p:nvSpPr>
        <p:spPr>
          <a:xfrm>
            <a:off x="6846316" y="3261360"/>
            <a:ext cx="1554600" cy="739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1150"/>
              <a:buFont typeface="Calibri"/>
              <a:buNone/>
            </a:pPr>
            <a:r>
              <a:rPr b="1" i="0" lang="en-US" sz="1150" u="none" cap="none" strike="noStrike">
                <a:solidFill>
                  <a:srgbClr val="1E2761"/>
                </a:solidFill>
                <a:latin typeface="Calibri"/>
                <a:ea typeface="Calibri"/>
                <a:cs typeface="Calibri"/>
                <a:sym typeface="Calibri"/>
              </a:rPr>
              <a:t>Member 3</a:t>
            </a:r>
            <a:endParaRPr b="0" i="0" sz="1150" u="none" cap="none" strike="noStrike">
              <a:solidFill>
                <a:schemeClr val="dk1"/>
              </a:solidFill>
              <a:latin typeface="Calibri"/>
              <a:ea typeface="Calibri"/>
              <a:cs typeface="Calibri"/>
              <a:sym typeface="Calibri"/>
            </a:endParaRPr>
          </a:p>
        </p:txBody>
      </p:sp>
      <p:sp>
        <p:nvSpPr>
          <p:cNvPr id="72" name="Google Shape;72;p2"/>
          <p:cNvSpPr/>
          <p:nvPr/>
        </p:nvSpPr>
        <p:spPr>
          <a:xfrm>
            <a:off x="8400796" y="3261360"/>
            <a:ext cx="1737300" cy="739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66B74"/>
              </a:buClr>
              <a:buSzPts val="1150"/>
              <a:buFont typeface="Calibri"/>
              <a:buNone/>
            </a:pPr>
            <a:r>
              <a:rPr b="1" i="1" lang="en-US" sz="1150">
                <a:solidFill>
                  <a:srgbClr val="666B74"/>
                </a:solidFill>
                <a:latin typeface="Calibri"/>
                <a:ea typeface="Calibri"/>
                <a:cs typeface="Calibri"/>
                <a:sym typeface="Calibri"/>
              </a:rPr>
              <a:t>Nawaz Ansari</a:t>
            </a:r>
            <a:endParaRPr b="1" i="0" sz="1150" u="none" cap="none" strike="noStrike">
              <a:solidFill>
                <a:schemeClr val="dk1"/>
              </a:solidFill>
              <a:latin typeface="Calibri"/>
              <a:ea typeface="Calibri"/>
              <a:cs typeface="Calibri"/>
              <a:sym typeface="Calibri"/>
            </a:endParaRPr>
          </a:p>
        </p:txBody>
      </p:sp>
      <p:sp>
        <p:nvSpPr>
          <p:cNvPr id="73" name="Google Shape;73;p2"/>
          <p:cNvSpPr/>
          <p:nvPr/>
        </p:nvSpPr>
        <p:spPr>
          <a:xfrm>
            <a:off x="10138156" y="3261360"/>
            <a:ext cx="1481400" cy="739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66B74"/>
              </a:buClr>
              <a:buSzPts val="1150"/>
              <a:buFont typeface="Calibri"/>
              <a:buNone/>
            </a:pPr>
            <a:r>
              <a:rPr b="1" i="1" lang="en-US" sz="1150">
                <a:solidFill>
                  <a:srgbClr val="666B74"/>
                </a:solidFill>
                <a:latin typeface="Calibri"/>
                <a:ea typeface="Calibri"/>
                <a:cs typeface="Calibri"/>
                <a:sym typeface="Calibri"/>
              </a:rPr>
              <a:t>AI/ML and Data Analysis</a:t>
            </a:r>
            <a:endParaRPr b="1" i="0" sz="1150" u="none" cap="none" strike="noStrike">
              <a:solidFill>
                <a:schemeClr val="dk1"/>
              </a:solidFill>
              <a:latin typeface="Calibri"/>
              <a:ea typeface="Calibri"/>
              <a:cs typeface="Calibri"/>
              <a:sym typeface="Calibri"/>
            </a:endParaRPr>
          </a:p>
        </p:txBody>
      </p:sp>
      <p:cxnSp>
        <p:nvCxnSpPr>
          <p:cNvPr id="74" name="Google Shape;74;p2"/>
          <p:cNvCxnSpPr/>
          <p:nvPr/>
        </p:nvCxnSpPr>
        <p:spPr>
          <a:xfrm>
            <a:off x="6626860" y="4000500"/>
            <a:ext cx="5212200" cy="0"/>
          </a:xfrm>
          <a:prstGeom prst="straightConnector1">
            <a:avLst/>
          </a:prstGeom>
          <a:noFill/>
          <a:ln cap="flat" cmpd="sng" w="12700">
            <a:solidFill>
              <a:srgbClr val="E7E9F0"/>
            </a:solidFill>
            <a:prstDash val="solid"/>
            <a:round/>
            <a:headEnd len="sm" w="sm" type="none"/>
            <a:tailEnd len="sm" w="sm" type="none"/>
          </a:ln>
        </p:spPr>
      </p:cxnSp>
      <p:sp>
        <p:nvSpPr>
          <p:cNvPr id="75" name="Google Shape;75;p2"/>
          <p:cNvSpPr/>
          <p:nvPr/>
        </p:nvSpPr>
        <p:spPr>
          <a:xfrm>
            <a:off x="6626860" y="4000500"/>
            <a:ext cx="5212200" cy="739200"/>
          </a:xfrm>
          <a:prstGeom prst="rect">
            <a:avLst/>
          </a:prstGeom>
          <a:solidFill>
            <a:srgbClr val="F5F6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2"/>
          <p:cNvSpPr/>
          <p:nvPr/>
        </p:nvSpPr>
        <p:spPr>
          <a:xfrm>
            <a:off x="6846316" y="4000500"/>
            <a:ext cx="1554600" cy="739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1150"/>
              <a:buFont typeface="Calibri"/>
              <a:buNone/>
            </a:pPr>
            <a:r>
              <a:rPr b="1" i="0" lang="en-US" sz="1150" u="none" cap="none" strike="noStrike">
                <a:solidFill>
                  <a:srgbClr val="1E2761"/>
                </a:solidFill>
                <a:latin typeface="Calibri"/>
                <a:ea typeface="Calibri"/>
                <a:cs typeface="Calibri"/>
                <a:sym typeface="Calibri"/>
              </a:rPr>
              <a:t>Member 4</a:t>
            </a:r>
            <a:endParaRPr b="0" i="0" sz="1150" u="none" cap="none" strike="noStrike">
              <a:solidFill>
                <a:schemeClr val="dk1"/>
              </a:solidFill>
              <a:latin typeface="Calibri"/>
              <a:ea typeface="Calibri"/>
              <a:cs typeface="Calibri"/>
              <a:sym typeface="Calibri"/>
            </a:endParaRPr>
          </a:p>
        </p:txBody>
      </p:sp>
      <p:sp>
        <p:nvSpPr>
          <p:cNvPr id="77" name="Google Shape;77;p2"/>
          <p:cNvSpPr/>
          <p:nvPr/>
        </p:nvSpPr>
        <p:spPr>
          <a:xfrm>
            <a:off x="8400796" y="4000500"/>
            <a:ext cx="1737300" cy="739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66B74"/>
              </a:buClr>
              <a:buSzPts val="1150"/>
              <a:buFont typeface="Calibri"/>
              <a:buNone/>
            </a:pPr>
            <a:r>
              <a:rPr b="1" i="1" lang="en-US" sz="1150">
                <a:solidFill>
                  <a:srgbClr val="666B74"/>
                </a:solidFill>
                <a:latin typeface="Calibri"/>
                <a:ea typeface="Calibri"/>
                <a:cs typeface="Calibri"/>
                <a:sym typeface="Calibri"/>
              </a:rPr>
              <a:t>Srilekha Dendukuri</a:t>
            </a:r>
            <a:endParaRPr b="1" i="0" sz="1150" u="none" cap="none" strike="noStrike">
              <a:solidFill>
                <a:schemeClr val="dk1"/>
              </a:solidFill>
              <a:latin typeface="Calibri"/>
              <a:ea typeface="Calibri"/>
              <a:cs typeface="Calibri"/>
              <a:sym typeface="Calibri"/>
            </a:endParaRPr>
          </a:p>
        </p:txBody>
      </p:sp>
      <p:sp>
        <p:nvSpPr>
          <p:cNvPr id="78" name="Google Shape;78;p2"/>
          <p:cNvSpPr/>
          <p:nvPr/>
        </p:nvSpPr>
        <p:spPr>
          <a:xfrm>
            <a:off x="10138156" y="4000500"/>
            <a:ext cx="1481400" cy="739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66B74"/>
              </a:buClr>
              <a:buSzPts val="1150"/>
              <a:buFont typeface="Calibri"/>
              <a:buNone/>
            </a:pPr>
            <a:r>
              <a:rPr b="1" i="1" lang="en-US" sz="1150">
                <a:solidFill>
                  <a:srgbClr val="666B74"/>
                </a:solidFill>
                <a:latin typeface="Calibri"/>
                <a:ea typeface="Calibri"/>
                <a:cs typeface="Calibri"/>
                <a:sym typeface="Calibri"/>
              </a:rPr>
              <a:t>Frontend</a:t>
            </a:r>
            <a:endParaRPr b="1" i="0" sz="1150" u="none" cap="none" strike="noStrike">
              <a:solidFill>
                <a:schemeClr val="dk1"/>
              </a:solidFill>
              <a:latin typeface="Calibri"/>
              <a:ea typeface="Calibri"/>
              <a:cs typeface="Calibri"/>
              <a:sym typeface="Calibri"/>
            </a:endParaRPr>
          </a:p>
        </p:txBody>
      </p:sp>
      <p:cxnSp>
        <p:nvCxnSpPr>
          <p:cNvPr id="79" name="Google Shape;79;p2"/>
          <p:cNvCxnSpPr/>
          <p:nvPr/>
        </p:nvCxnSpPr>
        <p:spPr>
          <a:xfrm>
            <a:off x="6626860" y="4739640"/>
            <a:ext cx="5212200" cy="0"/>
          </a:xfrm>
          <a:prstGeom prst="straightConnector1">
            <a:avLst/>
          </a:prstGeom>
          <a:noFill/>
          <a:ln cap="flat" cmpd="sng" w="12700">
            <a:solidFill>
              <a:srgbClr val="E7E9F0"/>
            </a:solidFill>
            <a:prstDash val="solid"/>
            <a:round/>
            <a:headEnd len="sm" w="sm" type="none"/>
            <a:tailEnd len="sm" w="sm" type="none"/>
          </a:ln>
        </p:spPr>
      </p:cxnSp>
      <p:sp>
        <p:nvSpPr>
          <p:cNvPr id="80" name="Google Shape;80;p2"/>
          <p:cNvSpPr/>
          <p:nvPr/>
        </p:nvSpPr>
        <p:spPr>
          <a:xfrm>
            <a:off x="6846316" y="4739640"/>
            <a:ext cx="1554600" cy="739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1150"/>
              <a:buFont typeface="Calibri"/>
              <a:buNone/>
            </a:pPr>
            <a:r>
              <a:rPr b="1" i="0" lang="en-US" sz="1150" u="none" cap="none" strike="noStrike">
                <a:solidFill>
                  <a:srgbClr val="1E2761"/>
                </a:solidFill>
                <a:latin typeface="Calibri"/>
                <a:ea typeface="Calibri"/>
                <a:cs typeface="Calibri"/>
                <a:sym typeface="Calibri"/>
              </a:rPr>
              <a:t>Member 5</a:t>
            </a:r>
            <a:endParaRPr b="0" i="0" sz="1150" u="none" cap="none" strike="noStrike">
              <a:solidFill>
                <a:schemeClr val="dk1"/>
              </a:solidFill>
              <a:latin typeface="Calibri"/>
              <a:ea typeface="Calibri"/>
              <a:cs typeface="Calibri"/>
              <a:sym typeface="Calibri"/>
            </a:endParaRPr>
          </a:p>
        </p:txBody>
      </p:sp>
      <p:sp>
        <p:nvSpPr>
          <p:cNvPr id="81" name="Google Shape;81;p2"/>
          <p:cNvSpPr/>
          <p:nvPr/>
        </p:nvSpPr>
        <p:spPr>
          <a:xfrm>
            <a:off x="8400796" y="4739640"/>
            <a:ext cx="1737300" cy="739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66B74"/>
              </a:buClr>
              <a:buSzPts val="1150"/>
              <a:buFont typeface="Calibri"/>
              <a:buNone/>
            </a:pPr>
            <a:r>
              <a:rPr b="1" i="1" lang="en-US" sz="1150">
                <a:solidFill>
                  <a:srgbClr val="666B74"/>
                </a:solidFill>
                <a:latin typeface="Calibri"/>
                <a:ea typeface="Calibri"/>
                <a:cs typeface="Calibri"/>
                <a:sym typeface="Calibri"/>
              </a:rPr>
              <a:t>S Dhinesh</a:t>
            </a:r>
            <a:endParaRPr b="1" i="0" sz="1150" u="none" cap="none" strike="noStrike">
              <a:solidFill>
                <a:schemeClr val="dk1"/>
              </a:solidFill>
              <a:latin typeface="Calibri"/>
              <a:ea typeface="Calibri"/>
              <a:cs typeface="Calibri"/>
              <a:sym typeface="Calibri"/>
            </a:endParaRPr>
          </a:p>
        </p:txBody>
      </p:sp>
      <p:sp>
        <p:nvSpPr>
          <p:cNvPr id="82" name="Google Shape;82;p2"/>
          <p:cNvSpPr/>
          <p:nvPr/>
        </p:nvSpPr>
        <p:spPr>
          <a:xfrm>
            <a:off x="10138156" y="4739640"/>
            <a:ext cx="1481400" cy="739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66B74"/>
              </a:buClr>
              <a:buSzPts val="1150"/>
              <a:buFont typeface="Calibri"/>
              <a:buNone/>
            </a:pPr>
            <a:r>
              <a:rPr b="1" i="1" lang="en-US" sz="1150">
                <a:solidFill>
                  <a:srgbClr val="666B74"/>
                </a:solidFill>
                <a:latin typeface="Calibri"/>
                <a:ea typeface="Calibri"/>
                <a:cs typeface="Calibri"/>
                <a:sym typeface="Calibri"/>
              </a:rPr>
              <a:t>CyberSecurity + Implementation</a:t>
            </a:r>
            <a:endParaRPr b="1" i="0" sz="1150" u="none" cap="none" strike="noStrike">
              <a:solidFill>
                <a:schemeClr val="dk1"/>
              </a:solidFill>
              <a:latin typeface="Calibri"/>
              <a:ea typeface="Calibri"/>
              <a:cs typeface="Calibri"/>
              <a:sym typeface="Calibri"/>
            </a:endParaRPr>
          </a:p>
        </p:txBody>
      </p:sp>
      <p:cxnSp>
        <p:nvCxnSpPr>
          <p:cNvPr id="83" name="Google Shape;83;p2"/>
          <p:cNvCxnSpPr/>
          <p:nvPr/>
        </p:nvCxnSpPr>
        <p:spPr>
          <a:xfrm>
            <a:off x="6626860" y="5478780"/>
            <a:ext cx="5212200" cy="0"/>
          </a:xfrm>
          <a:prstGeom prst="straightConnector1">
            <a:avLst/>
          </a:prstGeom>
          <a:noFill/>
          <a:ln cap="flat" cmpd="sng" w="12700">
            <a:solidFill>
              <a:srgbClr val="E7E9F0"/>
            </a:solidFill>
            <a:prstDash val="solid"/>
            <a:round/>
            <a:headEnd len="sm" w="sm" type="none"/>
            <a:tailEnd len="sm" w="sm" type="none"/>
          </a:ln>
        </p:spPr>
      </p:cxnSp>
      <p:sp>
        <p:nvSpPr>
          <p:cNvPr id="84" name="Google Shape;84;p2"/>
          <p:cNvSpPr/>
          <p:nvPr/>
        </p:nvSpPr>
        <p:spPr>
          <a:xfrm>
            <a:off x="6626860" y="5478780"/>
            <a:ext cx="5212200" cy="739200"/>
          </a:xfrm>
          <a:prstGeom prst="rect">
            <a:avLst/>
          </a:prstGeom>
          <a:solidFill>
            <a:srgbClr val="F5F6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2"/>
          <p:cNvSpPr/>
          <p:nvPr/>
        </p:nvSpPr>
        <p:spPr>
          <a:xfrm>
            <a:off x="6846316" y="5478780"/>
            <a:ext cx="1554600" cy="739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1150"/>
              <a:buFont typeface="Calibri"/>
              <a:buNone/>
            </a:pPr>
            <a:r>
              <a:rPr b="1" i="0" lang="en-US" sz="1150" u="none" cap="none" strike="noStrike">
                <a:solidFill>
                  <a:srgbClr val="1E2761"/>
                </a:solidFill>
                <a:latin typeface="Calibri"/>
                <a:ea typeface="Calibri"/>
                <a:cs typeface="Calibri"/>
                <a:sym typeface="Calibri"/>
              </a:rPr>
              <a:t>Member 6</a:t>
            </a:r>
            <a:endParaRPr b="0" i="0" sz="1150" u="none" cap="none" strike="noStrike">
              <a:solidFill>
                <a:schemeClr val="dk1"/>
              </a:solidFill>
              <a:latin typeface="Calibri"/>
              <a:ea typeface="Calibri"/>
              <a:cs typeface="Calibri"/>
              <a:sym typeface="Calibri"/>
            </a:endParaRPr>
          </a:p>
        </p:txBody>
      </p:sp>
      <p:sp>
        <p:nvSpPr>
          <p:cNvPr id="86" name="Google Shape;86;p2"/>
          <p:cNvSpPr/>
          <p:nvPr/>
        </p:nvSpPr>
        <p:spPr>
          <a:xfrm>
            <a:off x="8400796" y="5478780"/>
            <a:ext cx="1737300" cy="739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66B74"/>
              </a:buClr>
              <a:buSzPts val="1150"/>
              <a:buFont typeface="Calibri"/>
              <a:buNone/>
            </a:pPr>
            <a:r>
              <a:rPr b="1" i="1" lang="en-US" sz="1150">
                <a:solidFill>
                  <a:srgbClr val="666B74"/>
                </a:solidFill>
                <a:latin typeface="Calibri"/>
                <a:ea typeface="Calibri"/>
                <a:cs typeface="Calibri"/>
                <a:sym typeface="Calibri"/>
              </a:rPr>
              <a:t>Deeksha Jain</a:t>
            </a:r>
            <a:endParaRPr b="1" i="0" sz="1150" u="none" cap="none" strike="noStrike">
              <a:solidFill>
                <a:schemeClr val="dk1"/>
              </a:solidFill>
              <a:latin typeface="Calibri"/>
              <a:ea typeface="Calibri"/>
              <a:cs typeface="Calibri"/>
              <a:sym typeface="Calibri"/>
            </a:endParaRPr>
          </a:p>
        </p:txBody>
      </p:sp>
      <p:sp>
        <p:nvSpPr>
          <p:cNvPr id="87" name="Google Shape;87;p2"/>
          <p:cNvSpPr/>
          <p:nvPr/>
        </p:nvSpPr>
        <p:spPr>
          <a:xfrm>
            <a:off x="10138156" y="5478780"/>
            <a:ext cx="1481400" cy="739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66B74"/>
              </a:buClr>
              <a:buSzPts val="1150"/>
              <a:buFont typeface="Calibri"/>
              <a:buNone/>
            </a:pPr>
            <a:r>
              <a:rPr b="1" i="1" lang="en-US" sz="1150">
                <a:solidFill>
                  <a:srgbClr val="666B74"/>
                </a:solidFill>
                <a:latin typeface="Calibri"/>
                <a:ea typeface="Calibri"/>
                <a:cs typeface="Calibri"/>
                <a:sym typeface="Calibri"/>
              </a:rPr>
              <a:t>Research</a:t>
            </a:r>
            <a:endParaRPr b="1" i="0" sz="1150" u="none" cap="none" strike="noStrike">
              <a:solidFill>
                <a:schemeClr val="dk1"/>
              </a:solidFill>
              <a:latin typeface="Calibri"/>
              <a:ea typeface="Calibri"/>
              <a:cs typeface="Calibri"/>
              <a:sym typeface="Calibri"/>
            </a:endParaRPr>
          </a:p>
        </p:txBody>
      </p:sp>
      <p:sp>
        <p:nvSpPr>
          <p:cNvPr id="88" name="Google Shape;88;p2"/>
          <p:cNvSpPr/>
          <p:nvPr/>
        </p:nvSpPr>
        <p:spPr>
          <a:xfrm>
            <a:off x="548640" y="6519672"/>
            <a:ext cx="8686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81F19"/>
              </a:buClr>
              <a:buSzPts val="900"/>
              <a:buFont typeface="Calibri"/>
              <a:buNone/>
            </a:pPr>
            <a:r>
              <a:rPr b="1" i="0" lang="en-US" sz="900" u="none" cap="none" strike="noStrike">
                <a:solidFill>
                  <a:srgbClr val="781F19"/>
                </a:solidFill>
                <a:latin typeface="Calibri"/>
                <a:ea typeface="Calibri"/>
                <a:cs typeface="Calibri"/>
                <a:sym typeface="Calibri"/>
              </a:rPr>
              <a:t>IITM BS Degree Programme</a:t>
            </a:r>
            <a:r>
              <a:rPr b="0" i="0" lang="en-US" sz="900" u="none" cap="none" strike="noStrike">
                <a:solidFill>
                  <a:srgbClr val="666B74"/>
                </a:solidFill>
                <a:latin typeface="Calibri"/>
                <a:ea typeface="Calibri"/>
                <a:cs typeface="Calibri"/>
                <a:sym typeface="Calibri"/>
              </a:rPr>
              <a:t>   ·   SIH Internal Hackathon, Presentation </a:t>
            </a:r>
            <a:endParaRPr b="0" i="0" sz="900" u="none" cap="none" strike="noStrike">
              <a:solidFill>
                <a:schemeClr val="dk1"/>
              </a:solidFill>
              <a:latin typeface="Calibri"/>
              <a:ea typeface="Calibri"/>
              <a:cs typeface="Calibri"/>
              <a:sym typeface="Calibri"/>
            </a:endParaRPr>
          </a:p>
        </p:txBody>
      </p:sp>
      <p:sp>
        <p:nvSpPr>
          <p:cNvPr id="89" name="Google Shape;89;p2"/>
          <p:cNvSpPr/>
          <p:nvPr/>
        </p:nvSpPr>
        <p:spPr>
          <a:xfrm>
            <a:off x="8897112" y="6519672"/>
            <a:ext cx="274320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66B74"/>
              </a:buClr>
              <a:buSzPts val="900"/>
              <a:buFont typeface="Calibri"/>
              <a:buNone/>
            </a:pPr>
            <a:r>
              <a:rPr b="0" i="0" lang="en-US" sz="900" u="none" cap="none" strike="noStrike">
                <a:solidFill>
                  <a:srgbClr val="666B74"/>
                </a:solidFill>
                <a:latin typeface="Calibri"/>
                <a:ea typeface="Calibri"/>
                <a:cs typeface="Calibri"/>
                <a:sym typeface="Calibri"/>
              </a:rPr>
              <a:t>Section 01 of 08</a:t>
            </a:r>
            <a:endParaRPr b="0" i="0" sz="900" u="none" cap="none" strike="noStrike">
              <a:solidFill>
                <a:schemeClr val="dk1"/>
              </a:solidFill>
              <a:latin typeface="Calibri"/>
              <a:ea typeface="Calibri"/>
              <a:cs typeface="Calibri"/>
              <a:sym typeface="Calibri"/>
            </a:endParaRPr>
          </a:p>
        </p:txBody>
      </p:sp>
      <p:cxnSp>
        <p:nvCxnSpPr>
          <p:cNvPr id="90" name="Google Shape;90;p2"/>
          <p:cNvCxnSpPr/>
          <p:nvPr/>
        </p:nvCxnSpPr>
        <p:spPr>
          <a:xfrm>
            <a:off x="548640" y="6473952"/>
            <a:ext cx="11091672" cy="0"/>
          </a:xfrm>
          <a:prstGeom prst="straightConnector1">
            <a:avLst/>
          </a:prstGeom>
          <a:noFill/>
          <a:ln cap="flat" cmpd="sng" w="12700">
            <a:solidFill>
              <a:srgbClr val="E7E9F0"/>
            </a:solidFill>
            <a:prstDash val="solid"/>
            <a:round/>
            <a:headEnd len="sm" w="sm" type="none"/>
            <a:tailEnd len="sm" w="sm" type="none"/>
          </a:ln>
        </p:spPr>
      </p:cxnSp>
      <p:pic>
        <p:nvPicPr>
          <p:cNvPr id="91" name="Google Shape;91;p2" title="ChatGPT Image Aug 27, 2026, 09_38_55 AM.png"/>
          <p:cNvPicPr preferRelativeResize="0"/>
          <p:nvPr/>
        </p:nvPicPr>
        <p:blipFill>
          <a:blip r:embed="rId4">
            <a:alphaModFix/>
          </a:blip>
          <a:stretch>
            <a:fillRect/>
          </a:stretch>
        </p:blipFill>
        <p:spPr>
          <a:xfrm>
            <a:off x="193050" y="2358650"/>
            <a:ext cx="6185702" cy="373683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 name="Shape 96"/>
        <p:cNvGrpSpPr/>
        <p:nvPr/>
      </p:nvGrpSpPr>
      <p:grpSpPr>
        <a:xfrm>
          <a:off x="0" y="0"/>
          <a:ext cx="0" cy="0"/>
          <a:chOff x="0" y="0"/>
          <a:chExt cx="0" cy="0"/>
        </a:xfrm>
      </p:grpSpPr>
      <p:sp>
        <p:nvSpPr>
          <p:cNvPr id="97" name="Google Shape;97;p3"/>
          <p:cNvSpPr/>
          <p:nvPr/>
        </p:nvSpPr>
        <p:spPr>
          <a:xfrm>
            <a:off x="548640" y="420624"/>
            <a:ext cx="365760" cy="365760"/>
          </a:xfrm>
          <a:prstGeom prst="ellipse">
            <a:avLst/>
          </a:prstGeom>
          <a:solidFill>
            <a:srgbClr val="781F19"/>
          </a:solidFill>
          <a:ln cap="flat" cmpd="sng" w="15875">
            <a:solidFill>
              <a:srgbClr val="D6A64F"/>
            </a:solidFill>
            <a:prstDash val="solid"/>
            <a:round/>
            <a:headEnd len="sm" w="sm" type="none"/>
            <a:tailEnd len="sm" w="sm" type="none"/>
          </a:ln>
          <a:effectLst>
            <a:outerShdw blurRad="76200" rotWithShape="0" algn="bl" dir="5400000" dist="19050">
              <a:srgbClr val="1B1F3B">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3"/>
          <p:cNvSpPr/>
          <p:nvPr/>
        </p:nvSpPr>
        <p:spPr>
          <a:xfrm>
            <a:off x="548640" y="420624"/>
            <a:ext cx="365760" cy="3657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2</a:t>
            </a:r>
            <a:endParaRPr b="0" i="0" sz="1500" u="none" cap="none" strike="noStrike">
              <a:solidFill>
                <a:schemeClr val="dk1"/>
              </a:solidFill>
              <a:latin typeface="Calibri"/>
              <a:ea typeface="Calibri"/>
              <a:cs typeface="Calibri"/>
              <a:sym typeface="Calibri"/>
            </a:endParaRPr>
          </a:p>
        </p:txBody>
      </p:sp>
      <p:sp>
        <p:nvSpPr>
          <p:cNvPr id="99" name="Google Shape;99;p3"/>
          <p:cNvSpPr/>
          <p:nvPr/>
        </p:nvSpPr>
        <p:spPr>
          <a:xfrm>
            <a:off x="1051560" y="402336"/>
            <a:ext cx="548640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81F19"/>
              </a:buClr>
              <a:buSzPts val="1250"/>
              <a:buFont typeface="Calibri"/>
              <a:buNone/>
            </a:pPr>
            <a:r>
              <a:rPr b="1" i="0" lang="en-US" sz="1250" u="none" cap="none" strike="noStrike">
                <a:solidFill>
                  <a:srgbClr val="781F19"/>
                </a:solidFill>
                <a:latin typeface="Calibri"/>
                <a:ea typeface="Calibri"/>
                <a:cs typeface="Calibri"/>
                <a:sym typeface="Calibri"/>
              </a:rPr>
              <a:t>SECTION 02</a:t>
            </a:r>
            <a:endParaRPr b="0" i="0" sz="1250" u="none" cap="none" strike="noStrike">
              <a:solidFill>
                <a:schemeClr val="dk1"/>
              </a:solidFill>
              <a:latin typeface="Calibri"/>
              <a:ea typeface="Calibri"/>
              <a:cs typeface="Calibri"/>
              <a:sym typeface="Calibri"/>
            </a:endParaRPr>
          </a:p>
        </p:txBody>
      </p:sp>
      <p:sp>
        <p:nvSpPr>
          <p:cNvPr id="100" name="Google Shape;100;p3"/>
          <p:cNvSpPr/>
          <p:nvPr/>
        </p:nvSpPr>
        <p:spPr>
          <a:xfrm>
            <a:off x="1051560" y="621792"/>
            <a:ext cx="950976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Idea </a:t>
            </a:r>
            <a:r>
              <a:rPr b="1" lang="en-US" sz="2800">
                <a:solidFill>
                  <a:srgbClr val="1E2761"/>
                </a:solidFill>
                <a:latin typeface="Cambria"/>
                <a:ea typeface="Cambria"/>
                <a:cs typeface="Cambria"/>
                <a:sym typeface="Cambria"/>
              </a:rPr>
              <a:t>,</a:t>
            </a:r>
            <a:r>
              <a:rPr b="1" i="0" lang="en-US" sz="2800" u="none" cap="none" strike="noStrike">
                <a:solidFill>
                  <a:srgbClr val="1E2761"/>
                </a:solidFill>
                <a:latin typeface="Cambria"/>
                <a:ea typeface="Cambria"/>
                <a:cs typeface="Cambria"/>
                <a:sym typeface="Cambria"/>
              </a:rPr>
              <a:t> Approach </a:t>
            </a:r>
            <a:r>
              <a:rPr b="1" lang="en-US" sz="2800">
                <a:solidFill>
                  <a:srgbClr val="1E2761"/>
                </a:solidFill>
                <a:latin typeface="Cambria"/>
                <a:ea typeface="Cambria"/>
                <a:cs typeface="Cambria"/>
                <a:sym typeface="Cambria"/>
              </a:rPr>
              <a:t>and </a:t>
            </a:r>
            <a:r>
              <a:rPr b="1" i="0" lang="en-US" sz="2800" u="none" cap="none" strike="noStrike">
                <a:solidFill>
                  <a:srgbClr val="1E2761"/>
                </a:solidFill>
                <a:latin typeface="Cambria"/>
                <a:ea typeface="Cambria"/>
                <a:cs typeface="Cambria"/>
                <a:sym typeface="Cambria"/>
              </a:rPr>
              <a:t>Proposed Solution</a:t>
            </a:r>
            <a:endParaRPr b="0" i="0" sz="2800" u="none" cap="none" strike="noStrike">
              <a:solidFill>
                <a:schemeClr val="dk1"/>
              </a:solidFill>
              <a:latin typeface="Calibri"/>
              <a:ea typeface="Calibri"/>
              <a:cs typeface="Calibri"/>
              <a:sym typeface="Calibri"/>
            </a:endParaRPr>
          </a:p>
        </p:txBody>
      </p:sp>
      <p:sp>
        <p:nvSpPr>
          <p:cNvPr id="101" name="Google Shape;101;p3"/>
          <p:cNvSpPr/>
          <p:nvPr/>
        </p:nvSpPr>
        <p:spPr>
          <a:xfrm>
            <a:off x="10981944" y="292608"/>
            <a:ext cx="658368" cy="658368"/>
          </a:xfrm>
          <a:prstGeom prst="ellipse">
            <a:avLst/>
          </a:prstGeom>
          <a:solidFill>
            <a:srgbClr val="FFFFFF"/>
          </a:solidFill>
          <a:ln cap="flat" cmpd="sng" w="19050">
            <a:solidFill>
              <a:srgbClr val="D6A64F"/>
            </a:solidFill>
            <a:prstDash val="solid"/>
            <a:round/>
            <a:headEnd len="sm" w="sm" type="none"/>
            <a:tailEnd len="sm" w="sm" type="none"/>
          </a:ln>
          <a:effectLst>
            <a:outerShdw blurRad="127000" rotWithShape="0" algn="bl" dir="5400000" dist="38100">
              <a:srgbClr val="1B1F3B">
                <a:alpha val="2196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iitm_bs_logo.png" id="102" name="Google Shape;102;p3"/>
          <p:cNvPicPr preferRelativeResize="0"/>
          <p:nvPr/>
        </p:nvPicPr>
        <p:blipFill rotWithShape="1">
          <a:blip r:embed="rId3">
            <a:alphaModFix/>
          </a:blip>
          <a:srcRect b="0" l="0" r="0" t="0"/>
          <a:stretch/>
        </p:blipFill>
        <p:spPr>
          <a:xfrm>
            <a:off x="11064240" y="374904"/>
            <a:ext cx="493776" cy="493776"/>
          </a:xfrm>
          <a:prstGeom prst="rect">
            <a:avLst/>
          </a:prstGeom>
          <a:noFill/>
          <a:ln>
            <a:noFill/>
          </a:ln>
        </p:spPr>
      </p:pic>
      <p:sp>
        <p:nvSpPr>
          <p:cNvPr id="103" name="Google Shape;103;p3"/>
          <p:cNvSpPr/>
          <p:nvPr/>
        </p:nvSpPr>
        <p:spPr>
          <a:xfrm>
            <a:off x="548640" y="1417320"/>
            <a:ext cx="5029200" cy="4800600"/>
          </a:xfrm>
          <a:prstGeom prst="roundRect">
            <a:avLst>
              <a:gd fmla="val 10529" name="adj"/>
            </a:avLst>
          </a:prstGeom>
          <a:solidFill>
            <a:srgbClr val="FBF7EA"/>
          </a:solidFill>
          <a:ln cap="flat" cmpd="sng" w="12700">
            <a:solidFill>
              <a:srgbClr val="E9DFC0"/>
            </a:solidFill>
            <a:prstDash val="solid"/>
            <a:round/>
            <a:headEnd len="sm" w="sm" type="none"/>
            <a:tailEnd len="sm" w="sm" type="none"/>
          </a:ln>
          <a:effectLst>
            <a:outerShdw blurRad="101600" rotWithShape="0" algn="bl" dir="5400000" dist="25400">
              <a:srgbClr val="1B1F3B">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3"/>
          <p:cNvSpPr/>
          <p:nvPr/>
        </p:nvSpPr>
        <p:spPr>
          <a:xfrm>
            <a:off x="768096" y="1618488"/>
            <a:ext cx="329184" cy="329184"/>
          </a:xfrm>
          <a:prstGeom prst="ellipse">
            <a:avLst/>
          </a:prstGeom>
          <a:solidFill>
            <a:srgbClr val="D6A6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3"/>
          <p:cNvSpPr/>
          <p:nvPr/>
        </p:nvSpPr>
        <p:spPr>
          <a:xfrm>
            <a:off x="768096" y="1618488"/>
            <a:ext cx="329184" cy="329184"/>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2173D"/>
              </a:buClr>
              <a:buSzPts val="1500"/>
              <a:buFont typeface="Calibri"/>
              <a:buNone/>
            </a:pPr>
            <a:r>
              <a:rPr b="1" i="0" lang="en-US" sz="1500" u="none" cap="none" strike="noStrike">
                <a:solidFill>
                  <a:srgbClr val="12173D"/>
                </a:solidFill>
                <a:latin typeface="Calibri"/>
                <a:ea typeface="Calibri"/>
                <a:cs typeface="Calibri"/>
                <a:sym typeface="Calibri"/>
              </a:rPr>
              <a:t>i</a:t>
            </a:r>
            <a:endParaRPr b="0" i="0" sz="1500" u="none" cap="none" strike="noStrike">
              <a:solidFill>
                <a:schemeClr val="dk1"/>
              </a:solidFill>
              <a:latin typeface="Calibri"/>
              <a:ea typeface="Calibri"/>
              <a:cs typeface="Calibri"/>
              <a:sym typeface="Calibri"/>
            </a:endParaRPr>
          </a:p>
        </p:txBody>
      </p:sp>
      <p:sp>
        <p:nvSpPr>
          <p:cNvPr id="106" name="Google Shape;106;p3"/>
          <p:cNvSpPr/>
          <p:nvPr/>
        </p:nvSpPr>
        <p:spPr>
          <a:xfrm>
            <a:off x="1207008" y="1618488"/>
            <a:ext cx="4114800" cy="32918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81F19"/>
              </a:buClr>
              <a:buSzPts val="1100"/>
              <a:buFont typeface="Calibri"/>
              <a:buNone/>
            </a:pPr>
            <a:r>
              <a:rPr b="1" lang="en-US" sz="1900">
                <a:solidFill>
                  <a:srgbClr val="781F19"/>
                </a:solidFill>
                <a:latin typeface="Calibri"/>
                <a:ea typeface="Calibri"/>
                <a:cs typeface="Calibri"/>
                <a:sym typeface="Calibri"/>
              </a:rPr>
              <a:t>SENTRY</a:t>
            </a:r>
            <a:endParaRPr b="1" i="0" sz="1900" u="none" cap="none" strike="noStrike">
              <a:solidFill>
                <a:schemeClr val="dk1"/>
              </a:solidFill>
              <a:latin typeface="Calibri"/>
              <a:ea typeface="Calibri"/>
              <a:cs typeface="Calibri"/>
              <a:sym typeface="Calibri"/>
            </a:endParaRPr>
          </a:p>
        </p:txBody>
      </p:sp>
      <p:cxnSp>
        <p:nvCxnSpPr>
          <p:cNvPr id="107" name="Google Shape;107;p3"/>
          <p:cNvCxnSpPr/>
          <p:nvPr/>
        </p:nvCxnSpPr>
        <p:spPr>
          <a:xfrm>
            <a:off x="804672" y="2093976"/>
            <a:ext cx="4517136" cy="0"/>
          </a:xfrm>
          <a:prstGeom prst="straightConnector1">
            <a:avLst/>
          </a:prstGeom>
          <a:noFill/>
          <a:ln cap="flat" cmpd="sng" w="12700">
            <a:solidFill>
              <a:srgbClr val="E9DFC0"/>
            </a:solidFill>
            <a:prstDash val="solid"/>
            <a:round/>
            <a:headEnd len="sm" w="sm" type="none"/>
            <a:tailEnd len="sm" w="sm" type="none"/>
          </a:ln>
        </p:spPr>
      </p:cxnSp>
      <p:sp>
        <p:nvSpPr>
          <p:cNvPr id="108" name="Google Shape;108;p3"/>
          <p:cNvSpPr/>
          <p:nvPr/>
        </p:nvSpPr>
        <p:spPr>
          <a:xfrm>
            <a:off x="673100" y="2240275"/>
            <a:ext cx="4905000" cy="3794700"/>
          </a:xfrm>
          <a:prstGeom prst="rect">
            <a:avLst/>
          </a:prstGeom>
          <a:noFill/>
          <a:ln>
            <a:noFill/>
          </a:ln>
        </p:spPr>
        <p:txBody>
          <a:bodyPr anchorCtr="0" anchor="t" bIns="45700" lIns="91425" spcFirstLastPara="1" rIns="91425" wrap="square" tIns="45700">
            <a:noAutofit/>
          </a:bodyPr>
          <a:lstStyle/>
          <a:p>
            <a:pPr indent="0" lvl="0" marL="0" marR="0" rtl="0" algn="l">
              <a:lnSpc>
                <a:spcPct val="136000"/>
              </a:lnSpc>
              <a:spcBef>
                <a:spcPts val="800"/>
              </a:spcBef>
              <a:spcAft>
                <a:spcPts val="0"/>
              </a:spcAft>
              <a:buNone/>
            </a:pPr>
            <a:r>
              <a:rPr lang="en-US">
                <a:solidFill>
                  <a:schemeClr val="dk1"/>
                </a:solidFill>
              </a:rPr>
              <a:t>Voice cloning has turned trusted voices into a new attack surface, enabling fraud, social engineering, and unauthorized access. SENTRY is an AI-powered real-time voice security platform that detects AI-generated speech, verifies whether the speaker matches the claimed identity, and assesses the overall risk of the interaction. </a:t>
            </a:r>
            <a:endParaRPr>
              <a:solidFill>
                <a:schemeClr val="dk1"/>
              </a:solidFill>
            </a:endParaRPr>
          </a:p>
          <a:p>
            <a:pPr indent="0" lvl="0" marL="0" marR="0" rtl="0" algn="l">
              <a:lnSpc>
                <a:spcPct val="136000"/>
              </a:lnSpc>
              <a:spcBef>
                <a:spcPts val="800"/>
              </a:spcBef>
              <a:spcAft>
                <a:spcPts val="0"/>
              </a:spcAft>
              <a:buNone/>
            </a:pPr>
            <a:r>
              <a:rPr lang="en-US">
                <a:solidFill>
                  <a:schemeClr val="dk1"/>
                </a:solidFill>
              </a:rPr>
              <a:t>Unlike existing solutions that primarily focus on detecting fake audio, SENTRY combines voice authenticity, speaker verification, behavioural signals, and financial/transaction risk to determine whether an interaction can be trusted and trigger preventive actions such as warnings, secondary verification, or transaction holds. </a:t>
            </a:r>
            <a:endParaRPr i="0" sz="1550" u="none" cap="none" strike="noStrike">
              <a:solidFill>
                <a:schemeClr val="dk1"/>
              </a:solidFill>
              <a:latin typeface="Calibri"/>
              <a:ea typeface="Calibri"/>
              <a:cs typeface="Calibri"/>
              <a:sym typeface="Calibri"/>
            </a:endParaRPr>
          </a:p>
        </p:txBody>
      </p:sp>
      <p:sp>
        <p:nvSpPr>
          <p:cNvPr id="109" name="Google Shape;109;p3"/>
          <p:cNvSpPr/>
          <p:nvPr/>
        </p:nvSpPr>
        <p:spPr>
          <a:xfrm>
            <a:off x="6309360" y="1417320"/>
            <a:ext cx="5212080" cy="1536192"/>
          </a:xfrm>
          <a:prstGeom prst="roundRect">
            <a:avLst>
              <a:gd fmla="val 29101" name="adj"/>
            </a:avLst>
          </a:prstGeom>
          <a:solidFill>
            <a:srgbClr val="F5F6FA"/>
          </a:solidFill>
          <a:ln cap="flat" cmpd="sng" w="12700">
            <a:solidFill>
              <a:srgbClr val="E7E9F0"/>
            </a:solidFill>
            <a:prstDash val="solid"/>
            <a:round/>
            <a:headEnd len="sm" w="sm" type="none"/>
            <a:tailEnd len="sm" w="sm" type="none"/>
          </a:ln>
          <a:effectLst>
            <a:outerShdw blurRad="114300" rotWithShape="0" algn="bl" dir="5400000" dist="25400">
              <a:srgbClr val="1B1F3B">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3"/>
          <p:cNvSpPr/>
          <p:nvPr/>
        </p:nvSpPr>
        <p:spPr>
          <a:xfrm>
            <a:off x="6528816" y="1636776"/>
            <a:ext cx="457200" cy="457200"/>
          </a:xfrm>
          <a:prstGeom prst="ellipse">
            <a:avLst/>
          </a:prstGeom>
          <a:solidFill>
            <a:srgbClr val="781F19"/>
          </a:solidFill>
          <a:ln cap="flat" cmpd="sng" w="15875">
            <a:solidFill>
              <a:srgbClr val="D6A64F"/>
            </a:solidFill>
            <a:prstDash val="solid"/>
            <a:round/>
            <a:headEnd len="sm" w="sm" type="none"/>
            <a:tailEnd len="sm" w="sm" type="none"/>
          </a:ln>
          <a:effectLst>
            <a:outerShdw blurRad="76200" rotWithShape="0" algn="bl" dir="5400000" dist="19050">
              <a:srgbClr val="1B1F3B">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3"/>
          <p:cNvSpPr/>
          <p:nvPr/>
        </p:nvSpPr>
        <p:spPr>
          <a:xfrm>
            <a:off x="6528816" y="1636776"/>
            <a:ext cx="4572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1</a:t>
            </a:r>
            <a:endParaRPr b="0" i="0" sz="1800" u="none" cap="none" strike="noStrike">
              <a:solidFill>
                <a:schemeClr val="dk1"/>
              </a:solidFill>
              <a:latin typeface="Calibri"/>
              <a:ea typeface="Calibri"/>
              <a:cs typeface="Calibri"/>
              <a:sym typeface="Calibri"/>
            </a:endParaRPr>
          </a:p>
        </p:txBody>
      </p:sp>
      <p:sp>
        <p:nvSpPr>
          <p:cNvPr id="112" name="Google Shape;112;p3"/>
          <p:cNvSpPr/>
          <p:nvPr/>
        </p:nvSpPr>
        <p:spPr>
          <a:xfrm>
            <a:off x="7168896" y="1600200"/>
            <a:ext cx="416052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1500"/>
              <a:buFont typeface="Calibri"/>
              <a:buNone/>
            </a:pPr>
            <a:r>
              <a:rPr b="1" i="0" lang="en-US" sz="1500" u="none" cap="none" strike="noStrike">
                <a:solidFill>
                  <a:srgbClr val="1E2761"/>
                </a:solidFill>
                <a:latin typeface="Calibri"/>
                <a:ea typeface="Calibri"/>
                <a:cs typeface="Calibri"/>
                <a:sym typeface="Calibri"/>
              </a:rPr>
              <a:t>The Problem</a:t>
            </a:r>
            <a:endParaRPr b="0" i="0" sz="1500" u="none" cap="none" strike="noStrike">
              <a:solidFill>
                <a:schemeClr val="dk1"/>
              </a:solidFill>
              <a:latin typeface="Calibri"/>
              <a:ea typeface="Calibri"/>
              <a:cs typeface="Calibri"/>
              <a:sym typeface="Calibri"/>
            </a:endParaRPr>
          </a:p>
        </p:txBody>
      </p:sp>
      <p:sp>
        <p:nvSpPr>
          <p:cNvPr id="113" name="Google Shape;113;p3"/>
          <p:cNvSpPr/>
          <p:nvPr/>
        </p:nvSpPr>
        <p:spPr>
          <a:xfrm>
            <a:off x="7072813" y="1853983"/>
            <a:ext cx="4352700" cy="1047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solidFill>
                  <a:schemeClr val="dk1"/>
                </a:solidFill>
              </a:rPr>
              <a:t>Voice cloning is making trustworthy voices a vector of attack.</a:t>
            </a:r>
            <a:endParaRPr sz="1100">
              <a:solidFill>
                <a:schemeClr val="dk1"/>
              </a:solidFill>
            </a:endParaRPr>
          </a:p>
          <a:p>
            <a:pPr indent="0" lvl="0" marL="0" rtl="0" algn="l">
              <a:spcBef>
                <a:spcPts val="0"/>
              </a:spcBef>
              <a:spcAft>
                <a:spcPts val="0"/>
              </a:spcAft>
              <a:buClr>
                <a:schemeClr val="dk1"/>
              </a:buClr>
              <a:buSzPts val="1100"/>
              <a:buFont typeface="Arial"/>
              <a:buNone/>
            </a:pPr>
            <a:r>
              <a:rPr lang="en-US" sz="1100">
                <a:solidFill>
                  <a:schemeClr val="dk1"/>
                </a:solidFill>
              </a:rPr>
              <a:t>The AI voice technology can be used to mimic relatives, bank officials, employees, and other trustworthy people in order to make someone perform actions against their will. The current methods of detection concentrate only on recognizing fake audio.</a:t>
            </a:r>
            <a:endParaRPr sz="1100">
              <a:solidFill>
                <a:schemeClr val="dk1"/>
              </a:solidFill>
            </a:endParaRPr>
          </a:p>
          <a:p>
            <a:pPr indent="0" lvl="0" marL="0" marR="0" rtl="0" algn="l">
              <a:lnSpc>
                <a:spcPct val="100000"/>
              </a:lnSpc>
              <a:spcBef>
                <a:spcPts val="0"/>
              </a:spcBef>
              <a:spcAft>
                <a:spcPts val="0"/>
              </a:spcAft>
              <a:buClr>
                <a:srgbClr val="666B74"/>
              </a:buClr>
              <a:buSzPts val="1200"/>
              <a:buFont typeface="Calibri"/>
              <a:buNone/>
            </a:pPr>
            <a:r>
              <a:t/>
            </a:r>
            <a:endParaRPr sz="1100">
              <a:solidFill>
                <a:schemeClr val="dk1"/>
              </a:solidFill>
            </a:endParaRPr>
          </a:p>
        </p:txBody>
      </p:sp>
      <p:sp>
        <p:nvSpPr>
          <p:cNvPr id="114" name="Google Shape;114;p3"/>
          <p:cNvSpPr/>
          <p:nvPr/>
        </p:nvSpPr>
        <p:spPr>
          <a:xfrm>
            <a:off x="6309360" y="3136392"/>
            <a:ext cx="5212080" cy="1536192"/>
          </a:xfrm>
          <a:prstGeom prst="roundRect">
            <a:avLst>
              <a:gd fmla="val 25794" name="adj"/>
            </a:avLst>
          </a:prstGeom>
          <a:solidFill>
            <a:srgbClr val="F5F6FA"/>
          </a:solidFill>
          <a:ln cap="flat" cmpd="sng" w="12700">
            <a:solidFill>
              <a:srgbClr val="E7E9F0"/>
            </a:solidFill>
            <a:prstDash val="solid"/>
            <a:round/>
            <a:headEnd len="sm" w="sm" type="none"/>
            <a:tailEnd len="sm" w="sm" type="none"/>
          </a:ln>
          <a:effectLst>
            <a:outerShdw blurRad="114300" rotWithShape="0" algn="bl" dir="5400000" dist="25400">
              <a:srgbClr val="1B1F3B">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3"/>
          <p:cNvSpPr/>
          <p:nvPr/>
        </p:nvSpPr>
        <p:spPr>
          <a:xfrm>
            <a:off x="6528816" y="3355848"/>
            <a:ext cx="457200" cy="457200"/>
          </a:xfrm>
          <a:prstGeom prst="ellipse">
            <a:avLst/>
          </a:prstGeom>
          <a:solidFill>
            <a:srgbClr val="781F19"/>
          </a:solidFill>
          <a:ln cap="flat" cmpd="sng" w="15875">
            <a:solidFill>
              <a:srgbClr val="D6A64F"/>
            </a:solidFill>
            <a:prstDash val="solid"/>
            <a:round/>
            <a:headEnd len="sm" w="sm" type="none"/>
            <a:tailEnd len="sm" w="sm" type="none"/>
          </a:ln>
          <a:effectLst>
            <a:outerShdw blurRad="76200" rotWithShape="0" algn="bl" dir="5400000" dist="19050">
              <a:srgbClr val="1B1F3B">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3"/>
          <p:cNvSpPr/>
          <p:nvPr/>
        </p:nvSpPr>
        <p:spPr>
          <a:xfrm>
            <a:off x="6528816" y="3355848"/>
            <a:ext cx="4572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2</a:t>
            </a:r>
            <a:endParaRPr b="0" i="0" sz="1800" u="none" cap="none" strike="noStrike">
              <a:solidFill>
                <a:schemeClr val="dk1"/>
              </a:solidFill>
              <a:latin typeface="Calibri"/>
              <a:ea typeface="Calibri"/>
              <a:cs typeface="Calibri"/>
              <a:sym typeface="Calibri"/>
            </a:endParaRPr>
          </a:p>
        </p:txBody>
      </p:sp>
      <p:sp>
        <p:nvSpPr>
          <p:cNvPr id="117" name="Google Shape;117;p3"/>
          <p:cNvSpPr/>
          <p:nvPr/>
        </p:nvSpPr>
        <p:spPr>
          <a:xfrm>
            <a:off x="7168896" y="3319272"/>
            <a:ext cx="416052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1500"/>
              <a:buFont typeface="Calibri"/>
              <a:buNone/>
            </a:pPr>
            <a:r>
              <a:rPr b="1" i="0" lang="en-US" sz="1500" u="none" cap="none" strike="noStrike">
                <a:solidFill>
                  <a:srgbClr val="1E2761"/>
                </a:solidFill>
                <a:latin typeface="Calibri"/>
                <a:ea typeface="Calibri"/>
                <a:cs typeface="Calibri"/>
                <a:sym typeface="Calibri"/>
              </a:rPr>
              <a:t>Our Solution</a:t>
            </a:r>
            <a:endParaRPr b="0" i="0" sz="1500" u="none" cap="none" strike="noStrike">
              <a:solidFill>
                <a:schemeClr val="dk1"/>
              </a:solidFill>
              <a:latin typeface="Calibri"/>
              <a:ea typeface="Calibri"/>
              <a:cs typeface="Calibri"/>
              <a:sym typeface="Calibri"/>
            </a:endParaRPr>
          </a:p>
        </p:txBody>
      </p:sp>
      <p:sp>
        <p:nvSpPr>
          <p:cNvPr id="118" name="Google Shape;118;p3"/>
          <p:cNvSpPr/>
          <p:nvPr/>
        </p:nvSpPr>
        <p:spPr>
          <a:xfrm>
            <a:off x="7168896" y="3685032"/>
            <a:ext cx="4160520" cy="8229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66B74"/>
              </a:buClr>
              <a:buSzPts val="1200"/>
              <a:buFont typeface="Calibri"/>
              <a:buNone/>
            </a:pPr>
            <a:r>
              <a:rPr lang="en-US" sz="1100">
                <a:solidFill>
                  <a:schemeClr val="dk1"/>
                </a:solidFill>
              </a:rPr>
              <a:t>SENTRY continuously analyzes speech in real time to detect synthetic voices, verify speaker authenticity and calculate impersonation risk. It can trigger warnings, secondary verification and simulated transaction holds before harm occurs. </a:t>
            </a:r>
            <a:endParaRPr i="1" sz="1200">
              <a:solidFill>
                <a:srgbClr val="666B74"/>
              </a:solidFill>
            </a:endParaRPr>
          </a:p>
        </p:txBody>
      </p:sp>
      <p:sp>
        <p:nvSpPr>
          <p:cNvPr id="119" name="Google Shape;119;p3"/>
          <p:cNvSpPr/>
          <p:nvPr/>
        </p:nvSpPr>
        <p:spPr>
          <a:xfrm>
            <a:off x="6309360" y="4855464"/>
            <a:ext cx="5212080" cy="1536192"/>
          </a:xfrm>
          <a:prstGeom prst="roundRect">
            <a:avLst>
              <a:gd fmla="val 26620" name="adj"/>
            </a:avLst>
          </a:prstGeom>
          <a:solidFill>
            <a:srgbClr val="F5F6FA"/>
          </a:solidFill>
          <a:ln cap="flat" cmpd="sng" w="12700">
            <a:solidFill>
              <a:srgbClr val="E7E9F0"/>
            </a:solidFill>
            <a:prstDash val="solid"/>
            <a:round/>
            <a:headEnd len="sm" w="sm" type="none"/>
            <a:tailEnd len="sm" w="sm" type="none"/>
          </a:ln>
          <a:effectLst>
            <a:outerShdw blurRad="114300" rotWithShape="0" algn="bl" dir="5400000" dist="25400">
              <a:srgbClr val="1B1F3B">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3"/>
          <p:cNvSpPr/>
          <p:nvPr/>
        </p:nvSpPr>
        <p:spPr>
          <a:xfrm>
            <a:off x="6528816" y="5074920"/>
            <a:ext cx="457200" cy="457200"/>
          </a:xfrm>
          <a:prstGeom prst="ellipse">
            <a:avLst/>
          </a:prstGeom>
          <a:solidFill>
            <a:srgbClr val="781F19"/>
          </a:solidFill>
          <a:ln cap="flat" cmpd="sng" w="15875">
            <a:solidFill>
              <a:srgbClr val="D6A64F"/>
            </a:solidFill>
            <a:prstDash val="solid"/>
            <a:round/>
            <a:headEnd len="sm" w="sm" type="none"/>
            <a:tailEnd len="sm" w="sm" type="none"/>
          </a:ln>
          <a:effectLst>
            <a:outerShdw blurRad="76200" rotWithShape="0" algn="bl" dir="5400000" dist="19050">
              <a:srgbClr val="1B1F3B">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3"/>
          <p:cNvSpPr/>
          <p:nvPr/>
        </p:nvSpPr>
        <p:spPr>
          <a:xfrm>
            <a:off x="6528816" y="5074920"/>
            <a:ext cx="4572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3</a:t>
            </a:r>
            <a:endParaRPr b="0" i="0" sz="1800" u="none" cap="none" strike="noStrike">
              <a:solidFill>
                <a:schemeClr val="dk1"/>
              </a:solidFill>
              <a:latin typeface="Calibri"/>
              <a:ea typeface="Calibri"/>
              <a:cs typeface="Calibri"/>
              <a:sym typeface="Calibri"/>
            </a:endParaRPr>
          </a:p>
        </p:txBody>
      </p:sp>
      <p:sp>
        <p:nvSpPr>
          <p:cNvPr id="122" name="Google Shape;122;p3"/>
          <p:cNvSpPr/>
          <p:nvPr/>
        </p:nvSpPr>
        <p:spPr>
          <a:xfrm>
            <a:off x="7168896" y="5038344"/>
            <a:ext cx="416052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1500"/>
              <a:buFont typeface="Calibri"/>
              <a:buNone/>
            </a:pPr>
            <a:r>
              <a:rPr b="1" i="0" lang="en-US" sz="1500" u="none" cap="none" strike="noStrike">
                <a:solidFill>
                  <a:srgbClr val="1E2761"/>
                </a:solidFill>
                <a:latin typeface="Calibri"/>
                <a:ea typeface="Calibri"/>
                <a:cs typeface="Calibri"/>
                <a:sym typeface="Calibri"/>
              </a:rPr>
              <a:t>What Makes It Different</a:t>
            </a:r>
            <a:endParaRPr b="0" i="0" sz="1500" u="none" cap="none" strike="noStrike">
              <a:solidFill>
                <a:schemeClr val="dk1"/>
              </a:solidFill>
              <a:latin typeface="Calibri"/>
              <a:ea typeface="Calibri"/>
              <a:cs typeface="Calibri"/>
              <a:sym typeface="Calibri"/>
            </a:endParaRPr>
          </a:p>
        </p:txBody>
      </p:sp>
      <p:sp>
        <p:nvSpPr>
          <p:cNvPr id="123" name="Google Shape;123;p3"/>
          <p:cNvSpPr/>
          <p:nvPr/>
        </p:nvSpPr>
        <p:spPr>
          <a:xfrm>
            <a:off x="7168896" y="5404104"/>
            <a:ext cx="4160520" cy="82296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1100">
                <a:solidFill>
                  <a:schemeClr val="dk1"/>
                </a:solidFill>
              </a:rPr>
              <a:t>Voice Authenticity + Identity Verification + Risk Intelligence + Prevention</a:t>
            </a:r>
            <a:endParaRPr sz="1100">
              <a:solidFill>
                <a:schemeClr val="dk1"/>
              </a:solidFill>
            </a:endParaRPr>
          </a:p>
          <a:p>
            <a:pPr indent="0" lvl="0" marL="0" marR="0" rtl="0" algn="l">
              <a:lnSpc>
                <a:spcPct val="100000"/>
              </a:lnSpc>
              <a:spcBef>
                <a:spcPts val="0"/>
              </a:spcBef>
              <a:spcAft>
                <a:spcPts val="0"/>
              </a:spcAft>
              <a:buClr>
                <a:srgbClr val="666B74"/>
              </a:buClr>
              <a:buSzPts val="1200"/>
              <a:buFont typeface="Calibri"/>
              <a:buNone/>
            </a:pPr>
            <a:r>
              <a:rPr lang="en-US" sz="1100">
                <a:solidFill>
                  <a:schemeClr val="dk1"/>
                </a:solidFill>
              </a:rPr>
              <a:t>SENTRY doesn't just detect a fake voice ,it determines whether the interaction can be trusted and what action should be taken. </a:t>
            </a:r>
            <a:endParaRPr i="1" sz="1200">
              <a:solidFill>
                <a:srgbClr val="666B74"/>
              </a:solidFill>
              <a:latin typeface="Calibri"/>
              <a:ea typeface="Calibri"/>
              <a:cs typeface="Calibri"/>
              <a:sym typeface="Calibri"/>
            </a:endParaRPr>
          </a:p>
        </p:txBody>
      </p:sp>
      <p:sp>
        <p:nvSpPr>
          <p:cNvPr id="124" name="Google Shape;124;p3"/>
          <p:cNvSpPr/>
          <p:nvPr/>
        </p:nvSpPr>
        <p:spPr>
          <a:xfrm>
            <a:off x="548640" y="6519672"/>
            <a:ext cx="8686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81F19"/>
              </a:buClr>
              <a:buSzPts val="900"/>
              <a:buFont typeface="Calibri"/>
              <a:buNone/>
            </a:pPr>
            <a:r>
              <a:rPr b="1" i="0" lang="en-US" sz="900" u="none" cap="none" strike="noStrike">
                <a:solidFill>
                  <a:srgbClr val="781F19"/>
                </a:solidFill>
                <a:latin typeface="Calibri"/>
                <a:ea typeface="Calibri"/>
                <a:cs typeface="Calibri"/>
                <a:sym typeface="Calibri"/>
              </a:rPr>
              <a:t>IITM BS Degree Programme</a:t>
            </a:r>
            <a:r>
              <a:rPr b="0" i="0" lang="en-US" sz="900" u="none" cap="none" strike="noStrike">
                <a:solidFill>
                  <a:srgbClr val="666B74"/>
                </a:solidFill>
                <a:latin typeface="Calibri"/>
                <a:ea typeface="Calibri"/>
                <a:cs typeface="Calibri"/>
                <a:sym typeface="Calibri"/>
              </a:rPr>
              <a:t>   ·   SIH Internal Hackathon, Presentation</a:t>
            </a:r>
            <a:endParaRPr b="0" i="0" sz="900" u="none" cap="none" strike="noStrike">
              <a:solidFill>
                <a:schemeClr val="dk1"/>
              </a:solidFill>
              <a:latin typeface="Calibri"/>
              <a:ea typeface="Calibri"/>
              <a:cs typeface="Calibri"/>
              <a:sym typeface="Calibri"/>
            </a:endParaRPr>
          </a:p>
        </p:txBody>
      </p:sp>
      <p:sp>
        <p:nvSpPr>
          <p:cNvPr id="125" name="Google Shape;125;p3"/>
          <p:cNvSpPr/>
          <p:nvPr/>
        </p:nvSpPr>
        <p:spPr>
          <a:xfrm>
            <a:off x="8897112" y="6519672"/>
            <a:ext cx="274320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66B74"/>
              </a:buClr>
              <a:buSzPts val="900"/>
              <a:buFont typeface="Calibri"/>
              <a:buNone/>
            </a:pPr>
            <a:r>
              <a:rPr b="0" i="0" lang="en-US" sz="900" u="none" cap="none" strike="noStrike">
                <a:solidFill>
                  <a:srgbClr val="666B74"/>
                </a:solidFill>
                <a:latin typeface="Calibri"/>
                <a:ea typeface="Calibri"/>
                <a:cs typeface="Calibri"/>
                <a:sym typeface="Calibri"/>
              </a:rPr>
              <a:t>Section 02 of 08</a:t>
            </a:r>
            <a:endParaRPr b="0" i="0" sz="900" u="none" cap="none" strike="noStrike">
              <a:solidFill>
                <a:schemeClr val="dk1"/>
              </a:solidFill>
              <a:latin typeface="Calibri"/>
              <a:ea typeface="Calibri"/>
              <a:cs typeface="Calibri"/>
              <a:sym typeface="Calibri"/>
            </a:endParaRPr>
          </a:p>
        </p:txBody>
      </p:sp>
      <p:cxnSp>
        <p:nvCxnSpPr>
          <p:cNvPr id="126" name="Google Shape;126;p3"/>
          <p:cNvCxnSpPr/>
          <p:nvPr/>
        </p:nvCxnSpPr>
        <p:spPr>
          <a:xfrm>
            <a:off x="548640" y="6473952"/>
            <a:ext cx="11091672" cy="0"/>
          </a:xfrm>
          <a:prstGeom prst="straightConnector1">
            <a:avLst/>
          </a:prstGeom>
          <a:noFill/>
          <a:ln cap="flat" cmpd="sng" w="12700">
            <a:solidFill>
              <a:srgbClr val="E7E9F0"/>
            </a:solidFill>
            <a:prstDash val="solid"/>
            <a:round/>
            <a:headEnd len="sm" w="sm" type="none"/>
            <a:tailEnd len="sm" w="sm"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 name="Shape 131"/>
        <p:cNvGrpSpPr/>
        <p:nvPr/>
      </p:nvGrpSpPr>
      <p:grpSpPr>
        <a:xfrm>
          <a:off x="0" y="0"/>
          <a:ext cx="0" cy="0"/>
          <a:chOff x="0" y="0"/>
          <a:chExt cx="0" cy="0"/>
        </a:xfrm>
      </p:grpSpPr>
      <p:sp>
        <p:nvSpPr>
          <p:cNvPr id="132" name="Google Shape;132;p4"/>
          <p:cNvSpPr/>
          <p:nvPr/>
        </p:nvSpPr>
        <p:spPr>
          <a:xfrm>
            <a:off x="548640" y="420624"/>
            <a:ext cx="365760" cy="365760"/>
          </a:xfrm>
          <a:prstGeom prst="ellipse">
            <a:avLst/>
          </a:prstGeom>
          <a:solidFill>
            <a:srgbClr val="781F19"/>
          </a:solidFill>
          <a:ln cap="flat" cmpd="sng" w="15875">
            <a:solidFill>
              <a:srgbClr val="D6A64F"/>
            </a:solidFill>
            <a:prstDash val="solid"/>
            <a:round/>
            <a:headEnd len="sm" w="sm" type="none"/>
            <a:tailEnd len="sm" w="sm" type="none"/>
          </a:ln>
          <a:effectLst>
            <a:outerShdw blurRad="76200" rotWithShape="0" algn="bl" dir="5400000" dist="19050">
              <a:srgbClr val="1B1F3B">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4"/>
          <p:cNvSpPr/>
          <p:nvPr/>
        </p:nvSpPr>
        <p:spPr>
          <a:xfrm>
            <a:off x="548640" y="420624"/>
            <a:ext cx="365760" cy="3657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3</a:t>
            </a:r>
            <a:endParaRPr b="0" i="0" sz="1500" u="none" cap="none" strike="noStrike">
              <a:solidFill>
                <a:schemeClr val="dk1"/>
              </a:solidFill>
              <a:latin typeface="Calibri"/>
              <a:ea typeface="Calibri"/>
              <a:cs typeface="Calibri"/>
              <a:sym typeface="Calibri"/>
            </a:endParaRPr>
          </a:p>
        </p:txBody>
      </p:sp>
      <p:sp>
        <p:nvSpPr>
          <p:cNvPr id="134" name="Google Shape;134;p4"/>
          <p:cNvSpPr/>
          <p:nvPr/>
        </p:nvSpPr>
        <p:spPr>
          <a:xfrm>
            <a:off x="1051560" y="402336"/>
            <a:ext cx="548640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81F19"/>
              </a:buClr>
              <a:buSzPts val="1250"/>
              <a:buFont typeface="Calibri"/>
              <a:buNone/>
            </a:pPr>
            <a:r>
              <a:rPr b="1" i="0" lang="en-US" sz="1250" u="none" cap="none" strike="noStrike">
                <a:solidFill>
                  <a:srgbClr val="781F19"/>
                </a:solidFill>
                <a:latin typeface="Calibri"/>
                <a:ea typeface="Calibri"/>
                <a:cs typeface="Calibri"/>
                <a:sym typeface="Calibri"/>
              </a:rPr>
              <a:t>SECTION 03</a:t>
            </a:r>
            <a:endParaRPr b="0" i="0" sz="1250" u="none" cap="none" strike="noStrike">
              <a:solidFill>
                <a:schemeClr val="dk1"/>
              </a:solidFill>
              <a:latin typeface="Calibri"/>
              <a:ea typeface="Calibri"/>
              <a:cs typeface="Calibri"/>
              <a:sym typeface="Calibri"/>
            </a:endParaRPr>
          </a:p>
        </p:txBody>
      </p:sp>
      <p:sp>
        <p:nvSpPr>
          <p:cNvPr id="135" name="Google Shape;135;p4"/>
          <p:cNvSpPr/>
          <p:nvPr/>
        </p:nvSpPr>
        <p:spPr>
          <a:xfrm>
            <a:off x="1051560" y="621792"/>
            <a:ext cx="950976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Novelty and Uniqueness</a:t>
            </a:r>
            <a:endParaRPr b="0" i="0" sz="2800" u="none" cap="none" strike="noStrike">
              <a:solidFill>
                <a:schemeClr val="dk1"/>
              </a:solidFill>
              <a:latin typeface="Calibri"/>
              <a:ea typeface="Calibri"/>
              <a:cs typeface="Calibri"/>
              <a:sym typeface="Calibri"/>
            </a:endParaRPr>
          </a:p>
        </p:txBody>
      </p:sp>
      <p:sp>
        <p:nvSpPr>
          <p:cNvPr id="136" name="Google Shape;136;p4"/>
          <p:cNvSpPr/>
          <p:nvPr/>
        </p:nvSpPr>
        <p:spPr>
          <a:xfrm>
            <a:off x="10981944" y="292608"/>
            <a:ext cx="658368" cy="658368"/>
          </a:xfrm>
          <a:prstGeom prst="ellipse">
            <a:avLst/>
          </a:prstGeom>
          <a:solidFill>
            <a:srgbClr val="FFFFFF"/>
          </a:solidFill>
          <a:ln cap="flat" cmpd="sng" w="19050">
            <a:solidFill>
              <a:srgbClr val="D6A64F"/>
            </a:solidFill>
            <a:prstDash val="solid"/>
            <a:round/>
            <a:headEnd len="sm" w="sm" type="none"/>
            <a:tailEnd len="sm" w="sm" type="none"/>
          </a:ln>
          <a:effectLst>
            <a:outerShdw blurRad="127000" rotWithShape="0" algn="bl" dir="5400000" dist="38100">
              <a:srgbClr val="1B1F3B">
                <a:alpha val="2196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iitm_bs_logo.png" id="137" name="Google Shape;137;p4"/>
          <p:cNvPicPr preferRelativeResize="0"/>
          <p:nvPr/>
        </p:nvPicPr>
        <p:blipFill rotWithShape="1">
          <a:blip r:embed="rId3">
            <a:alphaModFix/>
          </a:blip>
          <a:srcRect b="0" l="0" r="0" t="0"/>
          <a:stretch/>
        </p:blipFill>
        <p:spPr>
          <a:xfrm>
            <a:off x="11064240" y="374904"/>
            <a:ext cx="493776" cy="493776"/>
          </a:xfrm>
          <a:prstGeom prst="rect">
            <a:avLst/>
          </a:prstGeom>
          <a:noFill/>
          <a:ln>
            <a:noFill/>
          </a:ln>
        </p:spPr>
      </p:pic>
      <p:sp>
        <p:nvSpPr>
          <p:cNvPr id="138" name="Google Shape;138;p4"/>
          <p:cNvSpPr/>
          <p:nvPr/>
        </p:nvSpPr>
        <p:spPr>
          <a:xfrm>
            <a:off x="548640" y="1417320"/>
            <a:ext cx="5029200" cy="4800600"/>
          </a:xfrm>
          <a:prstGeom prst="roundRect">
            <a:avLst>
              <a:gd fmla="val 8456" name="adj"/>
            </a:avLst>
          </a:prstGeom>
          <a:solidFill>
            <a:srgbClr val="FBF7EA"/>
          </a:solidFill>
          <a:ln cap="flat" cmpd="sng" w="12700">
            <a:solidFill>
              <a:srgbClr val="E9DFC0"/>
            </a:solidFill>
            <a:prstDash val="solid"/>
            <a:round/>
            <a:headEnd len="sm" w="sm" type="none"/>
            <a:tailEnd len="sm" w="sm" type="none"/>
          </a:ln>
          <a:effectLst>
            <a:outerShdw blurRad="101600" rotWithShape="0" algn="bl" dir="5400000" dist="25400">
              <a:srgbClr val="1B1F3B">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4"/>
          <p:cNvSpPr/>
          <p:nvPr/>
        </p:nvSpPr>
        <p:spPr>
          <a:xfrm>
            <a:off x="768096" y="1618488"/>
            <a:ext cx="329184" cy="329184"/>
          </a:xfrm>
          <a:prstGeom prst="ellipse">
            <a:avLst/>
          </a:prstGeom>
          <a:solidFill>
            <a:srgbClr val="D6A6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4"/>
          <p:cNvSpPr/>
          <p:nvPr/>
        </p:nvSpPr>
        <p:spPr>
          <a:xfrm>
            <a:off x="804672" y="2240280"/>
            <a:ext cx="4517136" cy="3794760"/>
          </a:xfrm>
          <a:prstGeom prst="rect">
            <a:avLst/>
          </a:prstGeom>
          <a:noFill/>
          <a:ln>
            <a:noFill/>
          </a:ln>
        </p:spPr>
        <p:txBody>
          <a:bodyPr anchorCtr="0" anchor="t" bIns="45700" lIns="91425" spcFirstLastPara="1" rIns="91425" wrap="square" tIns="45700">
            <a:noAutofit/>
          </a:bodyPr>
          <a:lstStyle/>
          <a:p>
            <a:pPr indent="-314325" lvl="0" marL="457200" rtl="0" algn="l">
              <a:lnSpc>
                <a:spcPct val="136000"/>
              </a:lnSpc>
              <a:spcBef>
                <a:spcPts val="800"/>
              </a:spcBef>
              <a:spcAft>
                <a:spcPts val="0"/>
              </a:spcAft>
              <a:buClr>
                <a:srgbClr val="4A4A4A"/>
              </a:buClr>
              <a:buSzPts val="1350"/>
              <a:buFont typeface="Calibri"/>
              <a:buChar char="•"/>
            </a:pPr>
            <a:r>
              <a:rPr b="1" lang="en-US" sz="1200">
                <a:solidFill>
                  <a:schemeClr val="dk1"/>
                </a:solidFill>
              </a:rPr>
              <a:t>Voice is no longer a reliable proof of identity.</a:t>
            </a:r>
            <a:r>
              <a:rPr lang="en-US" sz="1200">
                <a:solidFill>
                  <a:schemeClr val="dk1"/>
                </a:solidFill>
              </a:rPr>
              <a:t> AI voice cloning can convincingly imitate trusted individuals and be used for financial fraud, social engineering, and unauthorized access.</a:t>
            </a:r>
            <a:endParaRPr sz="1200">
              <a:solidFill>
                <a:schemeClr val="dk1"/>
              </a:solidFill>
            </a:endParaRPr>
          </a:p>
          <a:p>
            <a:pPr indent="-314325" lvl="0" marL="457200" rtl="0" algn="l">
              <a:lnSpc>
                <a:spcPct val="136000"/>
              </a:lnSpc>
              <a:spcBef>
                <a:spcPts val="800"/>
              </a:spcBef>
              <a:spcAft>
                <a:spcPts val="0"/>
              </a:spcAft>
              <a:buClr>
                <a:srgbClr val="4A4A4A"/>
              </a:buClr>
              <a:buSzPts val="1350"/>
              <a:buFont typeface="Calibri"/>
              <a:buChar char="•"/>
            </a:pPr>
            <a:r>
              <a:rPr b="1" lang="en-US" sz="1200">
                <a:solidFill>
                  <a:schemeClr val="dk1"/>
                </a:solidFill>
              </a:rPr>
              <a:t>SENTRY bridges this gap by combining multiple signals</a:t>
            </a:r>
            <a:r>
              <a:rPr lang="en-US" sz="1200">
                <a:solidFill>
                  <a:schemeClr val="dk1"/>
                </a:solidFill>
              </a:rPr>
              <a:t> into a single real-time trust and risk assessment: </a:t>
            </a:r>
            <a:r>
              <a:rPr b="1" lang="en-US" sz="1200">
                <a:solidFill>
                  <a:schemeClr val="dk1"/>
                </a:solidFill>
              </a:rPr>
              <a:t>voice authenticity + speaker identity + behavioural/contextual risk + transaction sensitivity</a:t>
            </a:r>
            <a:r>
              <a:rPr lang="en-US" sz="1200">
                <a:solidFill>
                  <a:schemeClr val="dk1"/>
                </a:solidFill>
              </a:rPr>
              <a:t>.</a:t>
            </a:r>
            <a:endParaRPr sz="1200">
              <a:solidFill>
                <a:schemeClr val="dk1"/>
              </a:solidFill>
            </a:endParaRPr>
          </a:p>
          <a:p>
            <a:pPr indent="-314325" lvl="0" marL="457200" rtl="0" algn="l">
              <a:lnSpc>
                <a:spcPct val="136000"/>
              </a:lnSpc>
              <a:spcBef>
                <a:spcPts val="800"/>
              </a:spcBef>
              <a:spcAft>
                <a:spcPts val="0"/>
              </a:spcAft>
              <a:buClr>
                <a:srgbClr val="4A4A4A"/>
              </a:buClr>
              <a:buSzPts val="1350"/>
              <a:buFont typeface="Calibri"/>
              <a:buChar char="•"/>
            </a:pPr>
            <a:r>
              <a:rPr lang="en-US" sz="1200">
                <a:solidFill>
                  <a:schemeClr val="dk1"/>
                </a:solidFill>
              </a:rPr>
              <a:t>The goal is</a:t>
            </a:r>
            <a:r>
              <a:rPr b="1" lang="en-US" sz="1200">
                <a:solidFill>
                  <a:schemeClr val="dk1"/>
                </a:solidFill>
              </a:rPr>
              <a:t> prevention, not just detection.</a:t>
            </a:r>
            <a:r>
              <a:rPr lang="en-US" sz="1200">
                <a:solidFill>
                  <a:schemeClr val="dk1"/>
                </a:solidFill>
              </a:rPr>
              <a:t> Once risk crosses a defined threshold, SENTRY can recommend or trigger actions such as </a:t>
            </a:r>
            <a:r>
              <a:rPr b="1" lang="en-US" sz="1200">
                <a:solidFill>
                  <a:schemeClr val="dk1"/>
                </a:solidFill>
              </a:rPr>
              <a:t>warning the user, requesting secondary verification, flagging the session, or holding a simulated transaction</a:t>
            </a:r>
            <a:r>
              <a:rPr lang="en-US" sz="1200">
                <a:solidFill>
                  <a:schemeClr val="dk1"/>
                </a:solidFill>
              </a:rPr>
              <a:t>.</a:t>
            </a:r>
            <a:endParaRPr sz="1350">
              <a:solidFill>
                <a:srgbClr val="4A4A4A"/>
              </a:solidFill>
              <a:latin typeface="Calibri"/>
              <a:ea typeface="Calibri"/>
              <a:cs typeface="Calibri"/>
              <a:sym typeface="Calibri"/>
            </a:endParaRPr>
          </a:p>
        </p:txBody>
      </p:sp>
      <p:sp>
        <p:nvSpPr>
          <p:cNvPr id="141" name="Google Shape;141;p4"/>
          <p:cNvSpPr/>
          <p:nvPr/>
        </p:nvSpPr>
        <p:spPr>
          <a:xfrm>
            <a:off x="6309360" y="1417320"/>
            <a:ext cx="5212080" cy="2240280"/>
          </a:xfrm>
          <a:prstGeom prst="roundRect">
            <a:avLst>
              <a:gd fmla="val 18883" name="adj"/>
            </a:avLst>
          </a:prstGeom>
          <a:solidFill>
            <a:srgbClr val="FCF1F0"/>
          </a:solidFill>
          <a:ln cap="flat" cmpd="sng" w="12700">
            <a:solidFill>
              <a:srgbClr val="F1D8D6"/>
            </a:solidFill>
            <a:prstDash val="solid"/>
            <a:round/>
            <a:headEnd len="sm" w="sm" type="none"/>
            <a:tailEnd len="sm" w="sm" type="none"/>
          </a:ln>
          <a:effectLst>
            <a:outerShdw blurRad="114300" rotWithShape="0" algn="bl" dir="5400000" dist="25400">
              <a:srgbClr val="1B1F3B">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4"/>
          <p:cNvSpPr/>
          <p:nvPr/>
        </p:nvSpPr>
        <p:spPr>
          <a:xfrm>
            <a:off x="6565392" y="1600200"/>
            <a:ext cx="4700016"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E1814"/>
              </a:buClr>
              <a:buSzPts val="1100"/>
              <a:buFont typeface="Calibri"/>
              <a:buNone/>
            </a:pPr>
            <a:r>
              <a:rPr b="1" i="0" lang="en-US" sz="1100" u="none" cap="none" strike="noStrike">
                <a:solidFill>
                  <a:srgbClr val="5E1814"/>
                </a:solidFill>
                <a:latin typeface="Calibri"/>
                <a:ea typeface="Calibri"/>
                <a:cs typeface="Calibri"/>
                <a:sym typeface="Calibri"/>
              </a:rPr>
              <a:t>EXISTING SOLUTIONS</a:t>
            </a:r>
            <a:endParaRPr b="0" i="0" sz="1100" u="none" cap="none" strike="noStrike">
              <a:solidFill>
                <a:schemeClr val="dk1"/>
              </a:solidFill>
              <a:latin typeface="Calibri"/>
              <a:ea typeface="Calibri"/>
              <a:cs typeface="Calibri"/>
              <a:sym typeface="Calibri"/>
            </a:endParaRPr>
          </a:p>
        </p:txBody>
      </p:sp>
      <p:cxnSp>
        <p:nvCxnSpPr>
          <p:cNvPr id="143" name="Google Shape;143;p4"/>
          <p:cNvCxnSpPr/>
          <p:nvPr/>
        </p:nvCxnSpPr>
        <p:spPr>
          <a:xfrm>
            <a:off x="6565392" y="1901952"/>
            <a:ext cx="4700016" cy="0"/>
          </a:xfrm>
          <a:prstGeom prst="straightConnector1">
            <a:avLst/>
          </a:prstGeom>
          <a:noFill/>
          <a:ln cap="flat" cmpd="sng" w="12700">
            <a:solidFill>
              <a:srgbClr val="F1D8D6"/>
            </a:solidFill>
            <a:prstDash val="solid"/>
            <a:round/>
            <a:headEnd len="sm" w="sm" type="none"/>
            <a:tailEnd len="sm" w="sm" type="none"/>
          </a:ln>
        </p:spPr>
      </p:cxnSp>
      <p:sp>
        <p:nvSpPr>
          <p:cNvPr id="144" name="Google Shape;144;p4"/>
          <p:cNvSpPr/>
          <p:nvPr/>
        </p:nvSpPr>
        <p:spPr>
          <a:xfrm>
            <a:off x="6565392" y="2029968"/>
            <a:ext cx="4700016" cy="1536192"/>
          </a:xfrm>
          <a:prstGeom prst="rect">
            <a:avLst/>
          </a:prstGeom>
          <a:noFill/>
          <a:ln>
            <a:noFill/>
          </a:ln>
        </p:spPr>
        <p:txBody>
          <a:bodyPr anchorCtr="0" anchor="t" bIns="45700" lIns="91425" spcFirstLastPara="1" rIns="91425" wrap="square" tIns="45700">
            <a:noAutofit/>
          </a:bodyPr>
          <a:lstStyle/>
          <a:p>
            <a:pPr indent="-311150" lvl="0" marL="457200" rtl="0" algn="l">
              <a:spcBef>
                <a:spcPts val="0"/>
              </a:spcBef>
              <a:spcAft>
                <a:spcPts val="0"/>
              </a:spcAft>
              <a:buClr>
                <a:srgbClr val="6B4A48"/>
              </a:buClr>
              <a:buSzPts val="1300"/>
              <a:buFont typeface="Calibri"/>
              <a:buChar char="•"/>
            </a:pPr>
            <a:r>
              <a:rPr b="1" lang="en-US" sz="1200">
                <a:solidFill>
                  <a:schemeClr val="dk1"/>
                </a:solidFill>
              </a:rPr>
              <a:t>AI voice /deepfake detectors</a:t>
            </a:r>
            <a:r>
              <a:rPr lang="en-US" sz="1200">
                <a:solidFill>
                  <a:schemeClr val="dk1"/>
                </a:solidFill>
              </a:rPr>
              <a:t> - detect synthetic audio, but mainly focus on authenticity.</a:t>
            </a:r>
            <a:endParaRPr sz="1200">
              <a:solidFill>
                <a:schemeClr val="dk1"/>
              </a:solidFill>
            </a:endParaRPr>
          </a:p>
          <a:p>
            <a:pPr indent="-311150" lvl="0" marL="457200" rtl="0" algn="l">
              <a:spcBef>
                <a:spcPts val="0"/>
              </a:spcBef>
              <a:spcAft>
                <a:spcPts val="0"/>
              </a:spcAft>
              <a:buClr>
                <a:srgbClr val="6B4A48"/>
              </a:buClr>
              <a:buSzPts val="1300"/>
              <a:buFont typeface="Calibri"/>
              <a:buChar char="•"/>
            </a:pPr>
            <a:r>
              <a:rPr b="1" lang="en-US" sz="1200">
                <a:solidFill>
                  <a:schemeClr val="dk1"/>
                </a:solidFill>
              </a:rPr>
              <a:t>Voice biometric systems</a:t>
            </a:r>
            <a:r>
              <a:rPr lang="en-US" sz="1200">
                <a:solidFill>
                  <a:schemeClr val="dk1"/>
                </a:solidFill>
              </a:rPr>
              <a:t> - verify speaker identity, but may not detect AI-generated voices or assess fraud context.</a:t>
            </a:r>
            <a:endParaRPr sz="1200">
              <a:solidFill>
                <a:schemeClr val="dk1"/>
              </a:solidFill>
            </a:endParaRPr>
          </a:p>
          <a:p>
            <a:pPr indent="-311150" lvl="0" marL="457200" rtl="0" algn="l">
              <a:spcBef>
                <a:spcPts val="0"/>
              </a:spcBef>
              <a:spcAft>
                <a:spcPts val="0"/>
              </a:spcAft>
              <a:buClr>
                <a:srgbClr val="6B4A48"/>
              </a:buClr>
              <a:buSzPts val="1300"/>
              <a:buFont typeface="Calibri"/>
              <a:buChar char="•"/>
            </a:pPr>
            <a:r>
              <a:rPr b="1" lang="en-US" sz="1200">
                <a:solidFill>
                  <a:schemeClr val="dk1"/>
                </a:solidFill>
              </a:rPr>
              <a:t>Fraud/risk systems</a:t>
            </a:r>
            <a:r>
              <a:rPr lang="en-US" sz="1200">
                <a:solidFill>
                  <a:schemeClr val="dk1"/>
                </a:solidFill>
              </a:rPr>
              <a:t> - assess transaction risk, but typically lack real-time voice authenticity and speaker analysis.</a:t>
            </a:r>
            <a:endParaRPr b="0" i="0" sz="1300" u="none" cap="none" strike="noStrike">
              <a:solidFill>
                <a:schemeClr val="dk1"/>
              </a:solidFill>
              <a:latin typeface="Calibri"/>
              <a:ea typeface="Calibri"/>
              <a:cs typeface="Calibri"/>
              <a:sym typeface="Calibri"/>
            </a:endParaRPr>
          </a:p>
        </p:txBody>
      </p:sp>
      <p:sp>
        <p:nvSpPr>
          <p:cNvPr id="145" name="Google Shape;145;p4"/>
          <p:cNvSpPr/>
          <p:nvPr/>
        </p:nvSpPr>
        <p:spPr>
          <a:xfrm>
            <a:off x="6309360" y="3840480"/>
            <a:ext cx="5212080" cy="2377440"/>
          </a:xfrm>
          <a:prstGeom prst="roundRect">
            <a:avLst>
              <a:gd fmla="val 11982" name="adj"/>
            </a:avLst>
          </a:prstGeom>
          <a:solidFill>
            <a:srgbClr val="EFF7F1"/>
          </a:solidFill>
          <a:ln cap="flat" cmpd="sng" w="12700">
            <a:solidFill>
              <a:srgbClr val="CFE8D6"/>
            </a:solidFill>
            <a:prstDash val="solid"/>
            <a:round/>
            <a:headEnd len="sm" w="sm" type="none"/>
            <a:tailEnd len="sm" w="sm" type="none"/>
          </a:ln>
          <a:effectLst>
            <a:outerShdw blurRad="114300" rotWithShape="0" algn="bl" dir="5400000" dist="25400">
              <a:srgbClr val="1B1F3B">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4"/>
          <p:cNvSpPr/>
          <p:nvPr/>
        </p:nvSpPr>
        <p:spPr>
          <a:xfrm>
            <a:off x="6565392" y="4023360"/>
            <a:ext cx="4700016" cy="25603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F5C33"/>
              </a:buClr>
              <a:buSzPts val="1100"/>
              <a:buFont typeface="Calibri"/>
              <a:buNone/>
            </a:pPr>
            <a:r>
              <a:rPr b="1" i="0" lang="en-US" sz="1100" u="none" cap="none" strike="noStrike">
                <a:solidFill>
                  <a:srgbClr val="1F5C33"/>
                </a:solidFill>
                <a:latin typeface="Calibri"/>
                <a:ea typeface="Calibri"/>
                <a:cs typeface="Calibri"/>
                <a:sym typeface="Calibri"/>
              </a:rPr>
              <a:t>WHAT'S NEW</a:t>
            </a:r>
            <a:endParaRPr b="0" i="0" sz="1100" u="none" cap="none" strike="noStrike">
              <a:solidFill>
                <a:schemeClr val="dk1"/>
              </a:solidFill>
              <a:latin typeface="Calibri"/>
              <a:ea typeface="Calibri"/>
              <a:cs typeface="Calibri"/>
              <a:sym typeface="Calibri"/>
            </a:endParaRPr>
          </a:p>
        </p:txBody>
      </p:sp>
      <p:cxnSp>
        <p:nvCxnSpPr>
          <p:cNvPr id="147" name="Google Shape;147;p4"/>
          <p:cNvCxnSpPr/>
          <p:nvPr/>
        </p:nvCxnSpPr>
        <p:spPr>
          <a:xfrm>
            <a:off x="6565392" y="4325112"/>
            <a:ext cx="4700016" cy="0"/>
          </a:xfrm>
          <a:prstGeom prst="straightConnector1">
            <a:avLst/>
          </a:prstGeom>
          <a:noFill/>
          <a:ln cap="flat" cmpd="sng" w="12700">
            <a:solidFill>
              <a:srgbClr val="CFE8D6"/>
            </a:solidFill>
            <a:prstDash val="solid"/>
            <a:round/>
            <a:headEnd len="sm" w="sm" type="none"/>
            <a:tailEnd len="sm" w="sm" type="none"/>
          </a:ln>
        </p:spPr>
      </p:cxnSp>
      <p:sp>
        <p:nvSpPr>
          <p:cNvPr id="148" name="Google Shape;148;p4"/>
          <p:cNvSpPr/>
          <p:nvPr/>
        </p:nvSpPr>
        <p:spPr>
          <a:xfrm>
            <a:off x="6565392" y="4453128"/>
            <a:ext cx="4700016" cy="1691640"/>
          </a:xfrm>
          <a:prstGeom prst="rect">
            <a:avLst/>
          </a:prstGeom>
          <a:noFill/>
          <a:ln>
            <a:noFill/>
          </a:ln>
        </p:spPr>
        <p:txBody>
          <a:bodyPr anchorCtr="0" anchor="t" bIns="45700" lIns="91425" spcFirstLastPara="1" rIns="91425" wrap="square" tIns="45700">
            <a:noAutofit/>
          </a:bodyPr>
          <a:lstStyle/>
          <a:p>
            <a:pPr indent="-304800" lvl="0" marL="457200" rtl="0" algn="l">
              <a:spcBef>
                <a:spcPts val="900"/>
              </a:spcBef>
              <a:spcAft>
                <a:spcPts val="0"/>
              </a:spcAft>
              <a:buClr>
                <a:srgbClr val="436B4E"/>
              </a:buClr>
              <a:buSzPts val="1200"/>
              <a:buFont typeface="Calibri"/>
              <a:buChar char="•"/>
            </a:pPr>
            <a:r>
              <a:rPr b="1" lang="en-US" sz="1100">
                <a:solidFill>
                  <a:schemeClr val="dk1"/>
                </a:solidFill>
              </a:rPr>
              <a:t>SENTRY combines all three:</a:t>
            </a:r>
            <a:r>
              <a:rPr lang="en-US" sz="1100">
                <a:solidFill>
                  <a:schemeClr val="dk1"/>
                </a:solidFill>
              </a:rPr>
              <a:t> Voice Authenticity + Speaker Verification + Risk Assessment.</a:t>
            </a:r>
            <a:endParaRPr sz="1100">
              <a:solidFill>
                <a:schemeClr val="dk1"/>
              </a:solidFill>
            </a:endParaRPr>
          </a:p>
          <a:p>
            <a:pPr indent="-304800" lvl="0" marL="457200" rtl="0" algn="l">
              <a:spcBef>
                <a:spcPts val="900"/>
              </a:spcBef>
              <a:spcAft>
                <a:spcPts val="0"/>
              </a:spcAft>
              <a:buClr>
                <a:srgbClr val="436B4E"/>
              </a:buClr>
              <a:buSzPts val="1200"/>
              <a:buFont typeface="Calibri"/>
              <a:buChar char="•"/>
            </a:pPr>
            <a:r>
              <a:rPr b="1" lang="en-US" sz="1100">
                <a:solidFill>
                  <a:schemeClr val="dk1"/>
                </a:solidFill>
              </a:rPr>
              <a:t>Real-time, end-to-end protection:</a:t>
            </a:r>
            <a:r>
              <a:rPr lang="en-US" sz="1100">
                <a:solidFill>
                  <a:schemeClr val="dk1"/>
                </a:solidFill>
              </a:rPr>
              <a:t> detects → verifies → scores risk → triggers preventive action.</a:t>
            </a:r>
            <a:endParaRPr sz="1100">
              <a:solidFill>
                <a:schemeClr val="dk1"/>
              </a:solidFill>
            </a:endParaRPr>
          </a:p>
          <a:p>
            <a:pPr indent="-304800" lvl="0" marL="457200" rtl="0" algn="l">
              <a:spcBef>
                <a:spcPts val="900"/>
              </a:spcBef>
              <a:spcAft>
                <a:spcPts val="0"/>
              </a:spcAft>
              <a:buClr>
                <a:srgbClr val="436B4E"/>
              </a:buClr>
              <a:buSzPts val="1200"/>
              <a:buFont typeface="Calibri"/>
              <a:buChar char="•"/>
            </a:pPr>
            <a:r>
              <a:rPr lang="en-US" sz="1100">
                <a:solidFill>
                  <a:schemeClr val="dk1"/>
                </a:solidFill>
              </a:rPr>
              <a:t>Goes beyond </a:t>
            </a:r>
            <a:r>
              <a:rPr b="1" lang="en-US" sz="1100">
                <a:solidFill>
                  <a:schemeClr val="dk1"/>
                </a:solidFill>
              </a:rPr>
              <a:t>“Is this voice fake?”</a:t>
            </a:r>
            <a:r>
              <a:rPr lang="en-US" sz="1100">
                <a:solidFill>
                  <a:schemeClr val="dk1"/>
                </a:solidFill>
              </a:rPr>
              <a:t> to </a:t>
            </a:r>
            <a:r>
              <a:rPr b="1" lang="en-US" sz="1100">
                <a:solidFill>
                  <a:schemeClr val="dk1"/>
                </a:solidFill>
              </a:rPr>
              <a:t>“Can this interaction be trusted, and what action should be taken?</a:t>
            </a:r>
            <a:endParaRPr i="1" sz="1200">
              <a:solidFill>
                <a:srgbClr val="436B4E"/>
              </a:solidFill>
              <a:latin typeface="Calibri"/>
              <a:ea typeface="Calibri"/>
              <a:cs typeface="Calibri"/>
              <a:sym typeface="Calibri"/>
            </a:endParaRPr>
          </a:p>
        </p:txBody>
      </p:sp>
      <p:sp>
        <p:nvSpPr>
          <p:cNvPr id="149" name="Google Shape;149;p4"/>
          <p:cNvSpPr/>
          <p:nvPr/>
        </p:nvSpPr>
        <p:spPr>
          <a:xfrm>
            <a:off x="548640" y="6519672"/>
            <a:ext cx="8686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81F19"/>
              </a:buClr>
              <a:buSzPts val="900"/>
              <a:buFont typeface="Calibri"/>
              <a:buNone/>
            </a:pPr>
            <a:r>
              <a:rPr b="1" i="0" lang="en-US" sz="900" u="none" cap="none" strike="noStrike">
                <a:solidFill>
                  <a:srgbClr val="781F19"/>
                </a:solidFill>
                <a:latin typeface="Calibri"/>
                <a:ea typeface="Calibri"/>
                <a:cs typeface="Calibri"/>
                <a:sym typeface="Calibri"/>
              </a:rPr>
              <a:t>IITM BS Degree Programme</a:t>
            </a:r>
            <a:r>
              <a:rPr b="0" i="0" lang="en-US" sz="900" u="none" cap="none" strike="noStrike">
                <a:solidFill>
                  <a:srgbClr val="666B74"/>
                </a:solidFill>
                <a:latin typeface="Calibri"/>
                <a:ea typeface="Calibri"/>
                <a:cs typeface="Calibri"/>
                <a:sym typeface="Calibri"/>
              </a:rPr>
              <a:t>   ·   SIH Internal Hackathon, Presentation</a:t>
            </a:r>
            <a:endParaRPr b="0" i="0" sz="900" u="none" cap="none" strike="noStrike">
              <a:solidFill>
                <a:schemeClr val="dk1"/>
              </a:solidFill>
              <a:latin typeface="Calibri"/>
              <a:ea typeface="Calibri"/>
              <a:cs typeface="Calibri"/>
              <a:sym typeface="Calibri"/>
            </a:endParaRPr>
          </a:p>
        </p:txBody>
      </p:sp>
      <p:sp>
        <p:nvSpPr>
          <p:cNvPr id="150" name="Google Shape;150;p4"/>
          <p:cNvSpPr/>
          <p:nvPr/>
        </p:nvSpPr>
        <p:spPr>
          <a:xfrm>
            <a:off x="8897112" y="6519672"/>
            <a:ext cx="274320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66B74"/>
              </a:buClr>
              <a:buSzPts val="900"/>
              <a:buFont typeface="Calibri"/>
              <a:buNone/>
            </a:pPr>
            <a:r>
              <a:rPr b="0" i="0" lang="en-US" sz="900" u="none" cap="none" strike="noStrike">
                <a:solidFill>
                  <a:srgbClr val="666B74"/>
                </a:solidFill>
                <a:latin typeface="Calibri"/>
                <a:ea typeface="Calibri"/>
                <a:cs typeface="Calibri"/>
                <a:sym typeface="Calibri"/>
              </a:rPr>
              <a:t>Section 03 of 08</a:t>
            </a:r>
            <a:endParaRPr b="0" i="0" sz="900" u="none" cap="none" strike="noStrike">
              <a:solidFill>
                <a:schemeClr val="dk1"/>
              </a:solidFill>
              <a:latin typeface="Calibri"/>
              <a:ea typeface="Calibri"/>
              <a:cs typeface="Calibri"/>
              <a:sym typeface="Calibri"/>
            </a:endParaRPr>
          </a:p>
        </p:txBody>
      </p:sp>
      <p:cxnSp>
        <p:nvCxnSpPr>
          <p:cNvPr id="151" name="Google Shape;151;p4"/>
          <p:cNvCxnSpPr/>
          <p:nvPr/>
        </p:nvCxnSpPr>
        <p:spPr>
          <a:xfrm>
            <a:off x="548640" y="6473952"/>
            <a:ext cx="11091672" cy="0"/>
          </a:xfrm>
          <a:prstGeom prst="straightConnector1">
            <a:avLst/>
          </a:prstGeom>
          <a:noFill/>
          <a:ln cap="flat" cmpd="sng" w="12700">
            <a:solidFill>
              <a:srgbClr val="E7E9F0"/>
            </a:solidFill>
            <a:prstDash val="solid"/>
            <a:round/>
            <a:headEnd len="sm" w="sm" type="none"/>
            <a:tailEnd len="sm" w="sm" type="none"/>
          </a:ln>
        </p:spPr>
      </p:cxnSp>
      <p:sp>
        <p:nvSpPr>
          <p:cNvPr id="152" name="Google Shape;152;p4"/>
          <p:cNvSpPr/>
          <p:nvPr/>
        </p:nvSpPr>
        <p:spPr>
          <a:xfrm>
            <a:off x="1207008" y="1618488"/>
            <a:ext cx="4114800" cy="329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81F19"/>
              </a:buClr>
              <a:buSzPts val="1100"/>
              <a:buFont typeface="Calibri"/>
              <a:buNone/>
            </a:pPr>
            <a:r>
              <a:rPr b="1" lang="en-US" sz="1500">
                <a:solidFill>
                  <a:srgbClr val="781F19"/>
                </a:solidFill>
                <a:latin typeface="Calibri"/>
                <a:ea typeface="Calibri"/>
                <a:cs typeface="Calibri"/>
                <a:sym typeface="Calibri"/>
              </a:rPr>
              <a:t>WHY SENTRY IS NEEDED </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sp>
        <p:nvSpPr>
          <p:cNvPr id="158" name="Google Shape;158;p5"/>
          <p:cNvSpPr/>
          <p:nvPr/>
        </p:nvSpPr>
        <p:spPr>
          <a:xfrm>
            <a:off x="548640" y="420624"/>
            <a:ext cx="365760" cy="365760"/>
          </a:xfrm>
          <a:prstGeom prst="ellipse">
            <a:avLst/>
          </a:prstGeom>
          <a:solidFill>
            <a:srgbClr val="781F19"/>
          </a:solidFill>
          <a:ln cap="flat" cmpd="sng" w="15875">
            <a:solidFill>
              <a:srgbClr val="D6A64F"/>
            </a:solidFill>
            <a:prstDash val="solid"/>
            <a:round/>
            <a:headEnd len="sm" w="sm" type="none"/>
            <a:tailEnd len="sm" w="sm" type="none"/>
          </a:ln>
          <a:effectLst>
            <a:outerShdw blurRad="76200" rotWithShape="0" algn="bl" dir="5400000" dist="19050">
              <a:srgbClr val="1B1F3B">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5"/>
          <p:cNvSpPr/>
          <p:nvPr/>
        </p:nvSpPr>
        <p:spPr>
          <a:xfrm>
            <a:off x="548640" y="420624"/>
            <a:ext cx="365760" cy="3657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4</a:t>
            </a:r>
            <a:endParaRPr b="0" i="0" sz="1500" u="none" cap="none" strike="noStrike">
              <a:solidFill>
                <a:schemeClr val="dk1"/>
              </a:solidFill>
              <a:latin typeface="Calibri"/>
              <a:ea typeface="Calibri"/>
              <a:cs typeface="Calibri"/>
              <a:sym typeface="Calibri"/>
            </a:endParaRPr>
          </a:p>
        </p:txBody>
      </p:sp>
      <p:sp>
        <p:nvSpPr>
          <p:cNvPr id="160" name="Google Shape;160;p5"/>
          <p:cNvSpPr/>
          <p:nvPr/>
        </p:nvSpPr>
        <p:spPr>
          <a:xfrm>
            <a:off x="1051560" y="402336"/>
            <a:ext cx="548640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81F19"/>
              </a:buClr>
              <a:buSzPts val="1250"/>
              <a:buFont typeface="Calibri"/>
              <a:buNone/>
            </a:pPr>
            <a:r>
              <a:rPr b="1" i="0" lang="en-US" sz="1250" u="none" cap="none" strike="noStrike">
                <a:solidFill>
                  <a:srgbClr val="781F19"/>
                </a:solidFill>
                <a:latin typeface="Calibri"/>
                <a:ea typeface="Calibri"/>
                <a:cs typeface="Calibri"/>
                <a:sym typeface="Calibri"/>
              </a:rPr>
              <a:t>SECTION 04</a:t>
            </a:r>
            <a:endParaRPr b="0" i="0" sz="1250" u="none" cap="none" strike="noStrike">
              <a:solidFill>
                <a:schemeClr val="dk1"/>
              </a:solidFill>
              <a:latin typeface="Calibri"/>
              <a:ea typeface="Calibri"/>
              <a:cs typeface="Calibri"/>
              <a:sym typeface="Calibri"/>
            </a:endParaRPr>
          </a:p>
        </p:txBody>
      </p:sp>
      <p:sp>
        <p:nvSpPr>
          <p:cNvPr id="161" name="Google Shape;161;p5"/>
          <p:cNvSpPr/>
          <p:nvPr/>
        </p:nvSpPr>
        <p:spPr>
          <a:xfrm>
            <a:off x="1051560" y="621792"/>
            <a:ext cx="950976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Technical Approach</a:t>
            </a:r>
            <a:endParaRPr b="0" i="0" sz="2800" u="none" cap="none" strike="noStrike">
              <a:solidFill>
                <a:schemeClr val="dk1"/>
              </a:solidFill>
              <a:latin typeface="Calibri"/>
              <a:ea typeface="Calibri"/>
              <a:cs typeface="Calibri"/>
              <a:sym typeface="Calibri"/>
            </a:endParaRPr>
          </a:p>
        </p:txBody>
      </p:sp>
      <p:sp>
        <p:nvSpPr>
          <p:cNvPr id="162" name="Google Shape;162;p5"/>
          <p:cNvSpPr/>
          <p:nvPr/>
        </p:nvSpPr>
        <p:spPr>
          <a:xfrm>
            <a:off x="10981944" y="292608"/>
            <a:ext cx="658368" cy="658368"/>
          </a:xfrm>
          <a:prstGeom prst="ellipse">
            <a:avLst/>
          </a:prstGeom>
          <a:solidFill>
            <a:srgbClr val="FFFFFF"/>
          </a:solidFill>
          <a:ln cap="flat" cmpd="sng" w="19050">
            <a:solidFill>
              <a:srgbClr val="D6A64F"/>
            </a:solidFill>
            <a:prstDash val="solid"/>
            <a:round/>
            <a:headEnd len="sm" w="sm" type="none"/>
            <a:tailEnd len="sm" w="sm" type="none"/>
          </a:ln>
          <a:effectLst>
            <a:outerShdw blurRad="127000" rotWithShape="0" algn="bl" dir="5400000" dist="38100">
              <a:srgbClr val="1B1F3B">
                <a:alpha val="2196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iitm_bs_logo.png" id="163" name="Google Shape;163;p5"/>
          <p:cNvPicPr preferRelativeResize="0"/>
          <p:nvPr/>
        </p:nvPicPr>
        <p:blipFill rotWithShape="1">
          <a:blip r:embed="rId3">
            <a:alphaModFix/>
          </a:blip>
          <a:srcRect b="0" l="0" r="0" t="0"/>
          <a:stretch/>
        </p:blipFill>
        <p:spPr>
          <a:xfrm>
            <a:off x="11064240" y="374904"/>
            <a:ext cx="493776" cy="493776"/>
          </a:xfrm>
          <a:prstGeom prst="rect">
            <a:avLst/>
          </a:prstGeom>
          <a:noFill/>
          <a:ln>
            <a:noFill/>
          </a:ln>
        </p:spPr>
      </p:pic>
      <p:sp>
        <p:nvSpPr>
          <p:cNvPr id="164" name="Google Shape;164;p5"/>
          <p:cNvSpPr/>
          <p:nvPr/>
        </p:nvSpPr>
        <p:spPr>
          <a:xfrm>
            <a:off x="548640" y="6519672"/>
            <a:ext cx="8686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81F19"/>
              </a:buClr>
              <a:buSzPts val="900"/>
              <a:buFont typeface="Calibri"/>
              <a:buNone/>
            </a:pPr>
            <a:r>
              <a:rPr b="1" i="0" lang="en-US" sz="900" u="none" cap="none" strike="noStrike">
                <a:solidFill>
                  <a:srgbClr val="781F19"/>
                </a:solidFill>
                <a:latin typeface="Calibri"/>
                <a:ea typeface="Calibri"/>
                <a:cs typeface="Calibri"/>
                <a:sym typeface="Calibri"/>
              </a:rPr>
              <a:t>IITM BS Degree Programme</a:t>
            </a:r>
            <a:r>
              <a:rPr b="0" i="0" lang="en-US" sz="900" u="none" cap="none" strike="noStrike">
                <a:solidFill>
                  <a:srgbClr val="666B74"/>
                </a:solidFill>
                <a:latin typeface="Calibri"/>
                <a:ea typeface="Calibri"/>
                <a:cs typeface="Calibri"/>
                <a:sym typeface="Calibri"/>
              </a:rPr>
              <a:t>   ·   SIH Internal Hackathon, Presentation</a:t>
            </a:r>
            <a:endParaRPr b="0" i="0" sz="900" u="none" cap="none" strike="noStrike">
              <a:solidFill>
                <a:schemeClr val="dk1"/>
              </a:solidFill>
              <a:latin typeface="Calibri"/>
              <a:ea typeface="Calibri"/>
              <a:cs typeface="Calibri"/>
              <a:sym typeface="Calibri"/>
            </a:endParaRPr>
          </a:p>
        </p:txBody>
      </p:sp>
      <p:sp>
        <p:nvSpPr>
          <p:cNvPr id="165" name="Google Shape;165;p5"/>
          <p:cNvSpPr/>
          <p:nvPr/>
        </p:nvSpPr>
        <p:spPr>
          <a:xfrm>
            <a:off x="8897112" y="6519672"/>
            <a:ext cx="274320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66B74"/>
              </a:buClr>
              <a:buSzPts val="900"/>
              <a:buFont typeface="Calibri"/>
              <a:buNone/>
            </a:pPr>
            <a:r>
              <a:rPr b="0" i="0" lang="en-US" sz="900" u="none" cap="none" strike="noStrike">
                <a:solidFill>
                  <a:srgbClr val="666B74"/>
                </a:solidFill>
                <a:latin typeface="Calibri"/>
                <a:ea typeface="Calibri"/>
                <a:cs typeface="Calibri"/>
                <a:sym typeface="Calibri"/>
              </a:rPr>
              <a:t>Section 04 of 08</a:t>
            </a:r>
            <a:endParaRPr b="0" i="0" sz="900" u="none" cap="none" strike="noStrike">
              <a:solidFill>
                <a:schemeClr val="dk1"/>
              </a:solidFill>
              <a:latin typeface="Calibri"/>
              <a:ea typeface="Calibri"/>
              <a:cs typeface="Calibri"/>
              <a:sym typeface="Calibri"/>
            </a:endParaRPr>
          </a:p>
        </p:txBody>
      </p:sp>
      <p:cxnSp>
        <p:nvCxnSpPr>
          <p:cNvPr id="166" name="Google Shape;166;p5"/>
          <p:cNvCxnSpPr/>
          <p:nvPr/>
        </p:nvCxnSpPr>
        <p:spPr>
          <a:xfrm>
            <a:off x="548640" y="6473952"/>
            <a:ext cx="11091672" cy="0"/>
          </a:xfrm>
          <a:prstGeom prst="straightConnector1">
            <a:avLst/>
          </a:prstGeom>
          <a:noFill/>
          <a:ln cap="flat" cmpd="sng" w="12700">
            <a:solidFill>
              <a:srgbClr val="E7E9F0"/>
            </a:solidFill>
            <a:prstDash val="solid"/>
            <a:round/>
            <a:headEnd len="sm" w="sm" type="none"/>
            <a:tailEnd len="sm" w="sm" type="none"/>
          </a:ln>
        </p:spPr>
      </p:cxnSp>
      <p:pic>
        <p:nvPicPr>
          <p:cNvPr id="167" name="Google Shape;167;p5" title="ChatGPT Image Aug 27, 2026, 09_39_45 AM.png"/>
          <p:cNvPicPr preferRelativeResize="0"/>
          <p:nvPr/>
        </p:nvPicPr>
        <p:blipFill rotWithShape="1">
          <a:blip r:embed="rId4">
            <a:alphaModFix/>
          </a:blip>
          <a:srcRect b="0" l="0" r="0" t="16639"/>
          <a:stretch/>
        </p:blipFill>
        <p:spPr>
          <a:xfrm>
            <a:off x="373251" y="1132875"/>
            <a:ext cx="11442455" cy="5159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2" name="Shape 172"/>
        <p:cNvGrpSpPr/>
        <p:nvPr/>
      </p:nvGrpSpPr>
      <p:grpSpPr>
        <a:xfrm>
          <a:off x="0" y="0"/>
          <a:ext cx="0" cy="0"/>
          <a:chOff x="0" y="0"/>
          <a:chExt cx="0" cy="0"/>
        </a:xfrm>
      </p:grpSpPr>
      <p:sp>
        <p:nvSpPr>
          <p:cNvPr id="173" name="Google Shape;173;p6"/>
          <p:cNvSpPr/>
          <p:nvPr/>
        </p:nvSpPr>
        <p:spPr>
          <a:xfrm>
            <a:off x="548640" y="420624"/>
            <a:ext cx="365760" cy="365760"/>
          </a:xfrm>
          <a:prstGeom prst="ellipse">
            <a:avLst/>
          </a:prstGeom>
          <a:solidFill>
            <a:srgbClr val="781F19"/>
          </a:solidFill>
          <a:ln cap="flat" cmpd="sng" w="15875">
            <a:solidFill>
              <a:srgbClr val="D6A64F"/>
            </a:solidFill>
            <a:prstDash val="solid"/>
            <a:round/>
            <a:headEnd len="sm" w="sm" type="none"/>
            <a:tailEnd len="sm" w="sm" type="none"/>
          </a:ln>
          <a:effectLst>
            <a:outerShdw blurRad="76200" rotWithShape="0" algn="bl" dir="5400000" dist="19050">
              <a:srgbClr val="1B1F3B">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6"/>
          <p:cNvSpPr/>
          <p:nvPr/>
        </p:nvSpPr>
        <p:spPr>
          <a:xfrm>
            <a:off x="548640" y="420624"/>
            <a:ext cx="365760" cy="3657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5</a:t>
            </a:r>
            <a:endParaRPr b="0" i="0" sz="1500" u="none" cap="none" strike="noStrike">
              <a:solidFill>
                <a:schemeClr val="dk1"/>
              </a:solidFill>
              <a:latin typeface="Calibri"/>
              <a:ea typeface="Calibri"/>
              <a:cs typeface="Calibri"/>
              <a:sym typeface="Calibri"/>
            </a:endParaRPr>
          </a:p>
        </p:txBody>
      </p:sp>
      <p:sp>
        <p:nvSpPr>
          <p:cNvPr id="175" name="Google Shape;175;p6"/>
          <p:cNvSpPr/>
          <p:nvPr/>
        </p:nvSpPr>
        <p:spPr>
          <a:xfrm>
            <a:off x="1051560" y="402336"/>
            <a:ext cx="548640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81F19"/>
              </a:buClr>
              <a:buSzPts val="1250"/>
              <a:buFont typeface="Calibri"/>
              <a:buNone/>
            </a:pPr>
            <a:r>
              <a:rPr b="1" i="0" lang="en-US" sz="1250" u="none" cap="none" strike="noStrike">
                <a:solidFill>
                  <a:srgbClr val="781F19"/>
                </a:solidFill>
                <a:latin typeface="Calibri"/>
                <a:ea typeface="Calibri"/>
                <a:cs typeface="Calibri"/>
                <a:sym typeface="Calibri"/>
              </a:rPr>
              <a:t>SECTION 05</a:t>
            </a:r>
            <a:endParaRPr b="0" i="0" sz="1250" u="none" cap="none" strike="noStrike">
              <a:solidFill>
                <a:schemeClr val="dk1"/>
              </a:solidFill>
              <a:latin typeface="Calibri"/>
              <a:ea typeface="Calibri"/>
              <a:cs typeface="Calibri"/>
              <a:sym typeface="Calibri"/>
            </a:endParaRPr>
          </a:p>
        </p:txBody>
      </p:sp>
      <p:sp>
        <p:nvSpPr>
          <p:cNvPr id="176" name="Google Shape;176;p6"/>
          <p:cNvSpPr/>
          <p:nvPr/>
        </p:nvSpPr>
        <p:spPr>
          <a:xfrm>
            <a:off x="1051560" y="621792"/>
            <a:ext cx="950976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Feasibility and Viability</a:t>
            </a:r>
            <a:endParaRPr b="0" i="0" sz="2800" u="none" cap="none" strike="noStrike">
              <a:solidFill>
                <a:schemeClr val="dk1"/>
              </a:solidFill>
              <a:latin typeface="Calibri"/>
              <a:ea typeface="Calibri"/>
              <a:cs typeface="Calibri"/>
              <a:sym typeface="Calibri"/>
            </a:endParaRPr>
          </a:p>
        </p:txBody>
      </p:sp>
      <p:sp>
        <p:nvSpPr>
          <p:cNvPr id="177" name="Google Shape;177;p6"/>
          <p:cNvSpPr/>
          <p:nvPr/>
        </p:nvSpPr>
        <p:spPr>
          <a:xfrm>
            <a:off x="10981944" y="292608"/>
            <a:ext cx="658368" cy="658368"/>
          </a:xfrm>
          <a:prstGeom prst="ellipse">
            <a:avLst/>
          </a:prstGeom>
          <a:solidFill>
            <a:srgbClr val="FFFFFF"/>
          </a:solidFill>
          <a:ln cap="flat" cmpd="sng" w="19050">
            <a:solidFill>
              <a:srgbClr val="D6A64F"/>
            </a:solidFill>
            <a:prstDash val="solid"/>
            <a:round/>
            <a:headEnd len="sm" w="sm" type="none"/>
            <a:tailEnd len="sm" w="sm" type="none"/>
          </a:ln>
          <a:effectLst>
            <a:outerShdw blurRad="127000" rotWithShape="0" algn="bl" dir="5400000" dist="38100">
              <a:srgbClr val="1B1F3B">
                <a:alpha val="2196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iitm_bs_logo.png" id="178" name="Google Shape;178;p6"/>
          <p:cNvPicPr preferRelativeResize="0"/>
          <p:nvPr/>
        </p:nvPicPr>
        <p:blipFill rotWithShape="1">
          <a:blip r:embed="rId3">
            <a:alphaModFix/>
          </a:blip>
          <a:srcRect b="0" l="0" r="0" t="0"/>
          <a:stretch/>
        </p:blipFill>
        <p:spPr>
          <a:xfrm>
            <a:off x="11064240" y="374904"/>
            <a:ext cx="493776" cy="493776"/>
          </a:xfrm>
          <a:prstGeom prst="rect">
            <a:avLst/>
          </a:prstGeom>
          <a:noFill/>
          <a:ln>
            <a:noFill/>
          </a:ln>
        </p:spPr>
      </p:pic>
      <p:sp>
        <p:nvSpPr>
          <p:cNvPr id="179" name="Google Shape;179;p6"/>
          <p:cNvSpPr/>
          <p:nvPr/>
        </p:nvSpPr>
        <p:spPr>
          <a:xfrm>
            <a:off x="548640" y="1417320"/>
            <a:ext cx="5029200" cy="4800600"/>
          </a:xfrm>
          <a:prstGeom prst="roundRect">
            <a:avLst>
              <a:gd fmla="val 1714" name="adj"/>
            </a:avLst>
          </a:prstGeom>
          <a:solidFill>
            <a:srgbClr val="FBF7EA"/>
          </a:solidFill>
          <a:ln cap="flat" cmpd="sng" w="12700">
            <a:solidFill>
              <a:srgbClr val="E9DFC0"/>
            </a:solidFill>
            <a:prstDash val="solid"/>
            <a:round/>
            <a:headEnd len="sm" w="sm" type="none"/>
            <a:tailEnd len="sm" w="sm" type="none"/>
          </a:ln>
          <a:effectLst>
            <a:outerShdw blurRad="101600" rotWithShape="0" algn="bl" dir="5400000" dist="25400">
              <a:srgbClr val="1B1F3B">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6"/>
          <p:cNvSpPr/>
          <p:nvPr/>
        </p:nvSpPr>
        <p:spPr>
          <a:xfrm>
            <a:off x="768096" y="1618488"/>
            <a:ext cx="329184" cy="329184"/>
          </a:xfrm>
          <a:prstGeom prst="ellipse">
            <a:avLst/>
          </a:prstGeom>
          <a:solidFill>
            <a:srgbClr val="D6A6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6"/>
          <p:cNvSpPr/>
          <p:nvPr/>
        </p:nvSpPr>
        <p:spPr>
          <a:xfrm>
            <a:off x="804675" y="2048250"/>
            <a:ext cx="4643700" cy="3986700"/>
          </a:xfrm>
          <a:prstGeom prst="rect">
            <a:avLst/>
          </a:prstGeom>
          <a:noFill/>
          <a:ln>
            <a:noFill/>
          </a:ln>
        </p:spPr>
        <p:txBody>
          <a:bodyPr anchorCtr="0" anchor="t" bIns="45700" lIns="91425" spcFirstLastPara="1" rIns="91425" wrap="square" tIns="45700">
            <a:noAutofit/>
          </a:bodyPr>
          <a:lstStyle/>
          <a:p>
            <a:pPr indent="0" lvl="0" marL="0" marR="0" rtl="0" algn="l">
              <a:lnSpc>
                <a:spcPct val="136000"/>
              </a:lnSpc>
              <a:spcBef>
                <a:spcPts val="800"/>
              </a:spcBef>
              <a:spcAft>
                <a:spcPts val="0"/>
              </a:spcAft>
              <a:buNone/>
            </a:pPr>
            <a:r>
              <a:rPr b="1" lang="en-US" sz="1300">
                <a:solidFill>
                  <a:schemeClr val="dk1"/>
                </a:solidFill>
              </a:rPr>
              <a:t>SENTRY is technically feasible using established speech-AI, speaker-verification and real-time streaming technologies.</a:t>
            </a:r>
            <a:r>
              <a:rPr lang="en-US" sz="1300">
                <a:solidFill>
                  <a:schemeClr val="dk1"/>
                </a:solidFill>
              </a:rPr>
              <a:t> </a:t>
            </a:r>
            <a:endParaRPr sz="1300">
              <a:solidFill>
                <a:schemeClr val="dk1"/>
              </a:solidFill>
            </a:endParaRPr>
          </a:p>
          <a:p>
            <a:pPr indent="0" lvl="0" marL="0" marR="0" rtl="0" algn="l">
              <a:lnSpc>
                <a:spcPct val="136000"/>
              </a:lnSpc>
              <a:spcBef>
                <a:spcPts val="800"/>
              </a:spcBef>
              <a:spcAft>
                <a:spcPts val="0"/>
              </a:spcAft>
              <a:buNone/>
            </a:pPr>
            <a:r>
              <a:rPr lang="en-US" sz="1300">
                <a:solidFill>
                  <a:schemeClr val="dk1"/>
                </a:solidFill>
              </a:rPr>
              <a:t>The system can begin as a software prototype using microphone/live-call or uploaded audio, process speech in short windows, generate authenticity and speaker-match scores, and combine them with behavioural and transaction signals to produce a real-time risk score.</a:t>
            </a:r>
            <a:endParaRPr sz="1300">
              <a:solidFill>
                <a:schemeClr val="dk1"/>
              </a:solidFill>
            </a:endParaRPr>
          </a:p>
          <a:p>
            <a:pPr indent="0" lvl="0" marL="0" marR="0" rtl="0" algn="l">
              <a:lnSpc>
                <a:spcPct val="136000"/>
              </a:lnSpc>
              <a:spcBef>
                <a:spcPts val="800"/>
              </a:spcBef>
              <a:spcAft>
                <a:spcPts val="0"/>
              </a:spcAft>
              <a:buNone/>
            </a:pPr>
            <a:r>
              <a:rPr lang="en-US" sz="1300">
                <a:solidFill>
                  <a:schemeClr val="dk1"/>
                </a:solidFill>
              </a:rPr>
              <a:t>The architecture is modular, allowing models and risk rules to be improved independently as more data becomes available. For deployment, SENTRY can operate as an API/service layer and integrate with existing fraud, banking, telecom or enterprise systems rather than requiring replacement of existing infrastructure. </a:t>
            </a:r>
            <a:endParaRPr b="0" i="0" sz="1450" u="none" cap="none" strike="noStrike">
              <a:solidFill>
                <a:schemeClr val="dk1"/>
              </a:solidFill>
              <a:latin typeface="Calibri"/>
              <a:ea typeface="Calibri"/>
              <a:cs typeface="Calibri"/>
              <a:sym typeface="Calibri"/>
            </a:endParaRPr>
          </a:p>
        </p:txBody>
      </p:sp>
      <p:sp>
        <p:nvSpPr>
          <p:cNvPr id="182" name="Google Shape;182;p6"/>
          <p:cNvSpPr/>
          <p:nvPr/>
        </p:nvSpPr>
        <p:spPr>
          <a:xfrm>
            <a:off x="6309360" y="1417320"/>
            <a:ext cx="2468880" cy="4800600"/>
          </a:xfrm>
          <a:prstGeom prst="roundRect">
            <a:avLst>
              <a:gd fmla="val 3333" name="adj"/>
            </a:avLst>
          </a:prstGeom>
          <a:solidFill>
            <a:srgbClr val="FCF1F0"/>
          </a:solidFill>
          <a:ln cap="flat" cmpd="sng" w="12700">
            <a:solidFill>
              <a:srgbClr val="F1D8D6"/>
            </a:solidFill>
            <a:prstDash val="solid"/>
            <a:round/>
            <a:headEnd len="sm" w="sm" type="none"/>
            <a:tailEnd len="sm" w="sm" type="none"/>
          </a:ln>
          <a:effectLst>
            <a:outerShdw blurRad="114300" rotWithShape="0" algn="bl" dir="5400000" dist="25400">
              <a:srgbClr val="1B1F3B">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6"/>
          <p:cNvSpPr/>
          <p:nvPr/>
        </p:nvSpPr>
        <p:spPr>
          <a:xfrm>
            <a:off x="6547104" y="1645920"/>
            <a:ext cx="402336" cy="402336"/>
          </a:xfrm>
          <a:prstGeom prst="ellipse">
            <a:avLst/>
          </a:prstGeom>
          <a:solidFill>
            <a:srgbClr val="781F1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6"/>
          <p:cNvSpPr/>
          <p:nvPr/>
        </p:nvSpPr>
        <p:spPr>
          <a:xfrm>
            <a:off x="6547104" y="1645920"/>
            <a:ext cx="402336" cy="402336"/>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85" name="Google Shape;185;p6"/>
          <p:cNvSpPr/>
          <p:nvPr/>
        </p:nvSpPr>
        <p:spPr>
          <a:xfrm>
            <a:off x="7095744" y="1572768"/>
            <a:ext cx="146304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E1814"/>
              </a:buClr>
              <a:buSzPts val="1350"/>
              <a:buFont typeface="Calibri"/>
              <a:buNone/>
            </a:pPr>
            <a:r>
              <a:rPr b="1" i="0" lang="en-US" sz="1350" u="none" cap="none" strike="noStrike">
                <a:solidFill>
                  <a:srgbClr val="5E1814"/>
                </a:solidFill>
                <a:latin typeface="Calibri"/>
                <a:ea typeface="Calibri"/>
                <a:cs typeface="Calibri"/>
                <a:sym typeface="Calibri"/>
              </a:rPr>
              <a:t>Potential</a:t>
            </a:r>
            <a:endParaRPr b="0" i="0" sz="13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5E1814"/>
              </a:buClr>
              <a:buSzPts val="1350"/>
              <a:buFont typeface="Calibri"/>
              <a:buNone/>
            </a:pPr>
            <a:r>
              <a:rPr b="1" i="0" lang="en-US" sz="1350" u="none" cap="none" strike="noStrike">
                <a:solidFill>
                  <a:srgbClr val="5E1814"/>
                </a:solidFill>
                <a:latin typeface="Calibri"/>
                <a:ea typeface="Calibri"/>
                <a:cs typeface="Calibri"/>
                <a:sym typeface="Calibri"/>
              </a:rPr>
              <a:t>Challenges</a:t>
            </a:r>
            <a:endParaRPr b="0" i="0" sz="1350" u="none" cap="none" strike="noStrike">
              <a:solidFill>
                <a:schemeClr val="dk1"/>
              </a:solidFill>
              <a:latin typeface="Calibri"/>
              <a:ea typeface="Calibri"/>
              <a:cs typeface="Calibri"/>
              <a:sym typeface="Calibri"/>
            </a:endParaRPr>
          </a:p>
        </p:txBody>
      </p:sp>
      <p:sp>
        <p:nvSpPr>
          <p:cNvPr id="186" name="Google Shape;186;p6"/>
          <p:cNvSpPr/>
          <p:nvPr/>
        </p:nvSpPr>
        <p:spPr>
          <a:xfrm>
            <a:off x="6214025" y="2121400"/>
            <a:ext cx="2523900" cy="3959400"/>
          </a:xfrm>
          <a:prstGeom prst="rect">
            <a:avLst/>
          </a:prstGeom>
          <a:noFill/>
          <a:ln>
            <a:noFill/>
          </a:ln>
        </p:spPr>
        <p:txBody>
          <a:bodyPr anchorCtr="0" anchor="t" bIns="45700" lIns="91425" spcFirstLastPara="1" rIns="91425" wrap="square" tIns="45700">
            <a:noAutofit/>
          </a:bodyPr>
          <a:lstStyle/>
          <a:p>
            <a:pPr indent="-304800" lvl="0" marL="457200" rtl="0" algn="l">
              <a:spcBef>
                <a:spcPts val="1100"/>
              </a:spcBef>
              <a:spcAft>
                <a:spcPts val="0"/>
              </a:spcAft>
              <a:buClr>
                <a:srgbClr val="6B4A48"/>
              </a:buClr>
              <a:buSzPts val="1200"/>
              <a:buFont typeface="Calibri"/>
              <a:buChar char="•"/>
            </a:pPr>
            <a:r>
              <a:rPr b="1" lang="en-US" sz="1100">
                <a:solidFill>
                  <a:schemeClr val="dk1"/>
                </a:solidFill>
              </a:rPr>
              <a:t>False positives / false negatives:</a:t>
            </a:r>
            <a:r>
              <a:rPr lang="en-US" sz="1100">
                <a:solidFill>
                  <a:schemeClr val="dk1"/>
                </a:solidFill>
              </a:rPr>
              <a:t> Genuine voices may be flagged, while sophisticated attacks may evade detection.</a:t>
            </a:r>
            <a:endParaRPr sz="1100">
              <a:solidFill>
                <a:schemeClr val="dk1"/>
              </a:solidFill>
            </a:endParaRPr>
          </a:p>
          <a:p>
            <a:pPr indent="-304800" lvl="0" marL="457200" rtl="0" algn="l">
              <a:spcBef>
                <a:spcPts val="1100"/>
              </a:spcBef>
              <a:spcAft>
                <a:spcPts val="0"/>
              </a:spcAft>
              <a:buClr>
                <a:srgbClr val="6B4A48"/>
              </a:buClr>
              <a:buSzPts val="1200"/>
              <a:buFont typeface="Calibri"/>
              <a:buChar char="•"/>
            </a:pPr>
            <a:r>
              <a:rPr b="1" lang="en-US" sz="1100">
                <a:solidFill>
                  <a:schemeClr val="dk1"/>
                </a:solidFill>
              </a:rPr>
              <a:t>Noisy real-world audio:</a:t>
            </a:r>
            <a:r>
              <a:rPr lang="en-US" sz="1100">
                <a:solidFill>
                  <a:schemeClr val="dk1"/>
                </a:solidFill>
              </a:rPr>
              <a:t> Phone compression, background noise, microphones and network conditions can affect performance.</a:t>
            </a:r>
            <a:endParaRPr sz="1100">
              <a:solidFill>
                <a:schemeClr val="dk1"/>
              </a:solidFill>
            </a:endParaRPr>
          </a:p>
          <a:p>
            <a:pPr indent="-304800" lvl="0" marL="457200" rtl="0" algn="l">
              <a:spcBef>
                <a:spcPts val="1100"/>
              </a:spcBef>
              <a:spcAft>
                <a:spcPts val="0"/>
              </a:spcAft>
              <a:buClr>
                <a:srgbClr val="6B4A48"/>
              </a:buClr>
              <a:buSzPts val="1200"/>
              <a:buFont typeface="Calibri"/>
              <a:buChar char="•"/>
            </a:pPr>
            <a:r>
              <a:rPr b="1" lang="en-US" sz="1100">
                <a:solidFill>
                  <a:schemeClr val="dk1"/>
                </a:solidFill>
              </a:rPr>
              <a:t>Limited speaker reference:</a:t>
            </a:r>
            <a:r>
              <a:rPr lang="en-US" sz="1100">
                <a:solidFill>
                  <a:schemeClr val="dk1"/>
                </a:solidFill>
              </a:rPr>
              <a:t> Speaker verification is harder when no enrolled/reference voice is available.</a:t>
            </a:r>
            <a:endParaRPr sz="1100">
              <a:solidFill>
                <a:schemeClr val="dk1"/>
              </a:solidFill>
            </a:endParaRPr>
          </a:p>
          <a:p>
            <a:pPr indent="-304800" lvl="0" marL="457200" rtl="0" algn="l">
              <a:spcBef>
                <a:spcPts val="1100"/>
              </a:spcBef>
              <a:spcAft>
                <a:spcPts val="0"/>
              </a:spcAft>
              <a:buClr>
                <a:srgbClr val="6B4A48"/>
              </a:buClr>
              <a:buSzPts val="1200"/>
              <a:buFont typeface="Calibri"/>
              <a:buChar char="•"/>
            </a:pPr>
            <a:r>
              <a:rPr b="1" lang="en-US" sz="1100">
                <a:solidFill>
                  <a:schemeClr val="dk1"/>
                </a:solidFill>
              </a:rPr>
              <a:t>Privacy &amp; sensitive voice data:</a:t>
            </a:r>
            <a:r>
              <a:rPr lang="en-US" sz="1100">
                <a:solidFill>
                  <a:schemeClr val="dk1"/>
                </a:solidFill>
              </a:rPr>
              <a:t> Voice recordings require strong protection, controlled access and limited retention.</a:t>
            </a:r>
            <a:endParaRPr i="1" sz="1200">
              <a:solidFill>
                <a:srgbClr val="6B4A48"/>
              </a:solidFill>
              <a:latin typeface="Calibri"/>
              <a:ea typeface="Calibri"/>
              <a:cs typeface="Calibri"/>
              <a:sym typeface="Calibri"/>
            </a:endParaRPr>
          </a:p>
        </p:txBody>
      </p:sp>
      <p:sp>
        <p:nvSpPr>
          <p:cNvPr id="187" name="Google Shape;187;p6"/>
          <p:cNvSpPr/>
          <p:nvPr/>
        </p:nvSpPr>
        <p:spPr>
          <a:xfrm>
            <a:off x="9052560" y="1417320"/>
            <a:ext cx="2468880" cy="4800600"/>
          </a:xfrm>
          <a:prstGeom prst="roundRect">
            <a:avLst>
              <a:gd fmla="val 3333" name="adj"/>
            </a:avLst>
          </a:prstGeom>
          <a:solidFill>
            <a:srgbClr val="EFF7F1"/>
          </a:solidFill>
          <a:ln cap="flat" cmpd="sng" w="12700">
            <a:solidFill>
              <a:srgbClr val="CFE8D6"/>
            </a:solidFill>
            <a:prstDash val="solid"/>
            <a:round/>
            <a:headEnd len="sm" w="sm" type="none"/>
            <a:tailEnd len="sm" w="sm" type="none"/>
          </a:ln>
          <a:effectLst>
            <a:outerShdw blurRad="114300" rotWithShape="0" algn="bl" dir="5400000" dist="25400">
              <a:srgbClr val="1B1F3B">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6"/>
          <p:cNvSpPr/>
          <p:nvPr/>
        </p:nvSpPr>
        <p:spPr>
          <a:xfrm>
            <a:off x="9290304" y="1645920"/>
            <a:ext cx="402336" cy="402336"/>
          </a:xfrm>
          <a:prstGeom prst="ellipse">
            <a:avLst/>
          </a:prstGeom>
          <a:solidFill>
            <a:srgbClr val="2E7D4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6"/>
          <p:cNvSpPr/>
          <p:nvPr/>
        </p:nvSpPr>
        <p:spPr>
          <a:xfrm>
            <a:off x="9290304" y="1645920"/>
            <a:ext cx="402336" cy="402336"/>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190" name="Google Shape;190;p6"/>
          <p:cNvSpPr/>
          <p:nvPr/>
        </p:nvSpPr>
        <p:spPr>
          <a:xfrm>
            <a:off x="9838944" y="1572768"/>
            <a:ext cx="146304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F5C33"/>
              </a:buClr>
              <a:buSzPts val="1350"/>
              <a:buFont typeface="Calibri"/>
              <a:buNone/>
            </a:pPr>
            <a:r>
              <a:rPr b="1" i="0" lang="en-US" sz="1350" u="none" cap="none" strike="noStrike">
                <a:solidFill>
                  <a:srgbClr val="1F5C33"/>
                </a:solidFill>
                <a:latin typeface="Calibri"/>
                <a:ea typeface="Calibri"/>
                <a:cs typeface="Calibri"/>
                <a:sym typeface="Calibri"/>
              </a:rPr>
              <a:t>Mitigation</a:t>
            </a:r>
            <a:endParaRPr b="0" i="0" sz="13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F5C33"/>
              </a:buClr>
              <a:buSzPts val="1350"/>
              <a:buFont typeface="Calibri"/>
              <a:buNone/>
            </a:pPr>
            <a:r>
              <a:rPr b="1" i="0" lang="en-US" sz="1350" u="none" cap="none" strike="noStrike">
                <a:solidFill>
                  <a:srgbClr val="1F5C33"/>
                </a:solidFill>
                <a:latin typeface="Calibri"/>
                <a:ea typeface="Calibri"/>
                <a:cs typeface="Calibri"/>
                <a:sym typeface="Calibri"/>
              </a:rPr>
              <a:t>Strategy</a:t>
            </a:r>
            <a:endParaRPr b="0" i="0" sz="1350" u="none" cap="none" strike="noStrike">
              <a:solidFill>
                <a:schemeClr val="dk1"/>
              </a:solidFill>
              <a:latin typeface="Calibri"/>
              <a:ea typeface="Calibri"/>
              <a:cs typeface="Calibri"/>
              <a:sym typeface="Calibri"/>
            </a:endParaRPr>
          </a:p>
        </p:txBody>
      </p:sp>
      <p:sp>
        <p:nvSpPr>
          <p:cNvPr id="191" name="Google Shape;191;p6"/>
          <p:cNvSpPr/>
          <p:nvPr/>
        </p:nvSpPr>
        <p:spPr>
          <a:xfrm>
            <a:off x="8851900" y="2331725"/>
            <a:ext cx="2743200" cy="3749100"/>
          </a:xfrm>
          <a:prstGeom prst="rect">
            <a:avLst/>
          </a:prstGeom>
          <a:noFill/>
          <a:ln>
            <a:noFill/>
          </a:ln>
        </p:spPr>
        <p:txBody>
          <a:bodyPr anchorCtr="0" anchor="t" bIns="45700" lIns="91425" spcFirstLastPara="1" rIns="91425" wrap="square" tIns="45700">
            <a:noAutofit/>
          </a:bodyPr>
          <a:lstStyle/>
          <a:p>
            <a:pPr indent="-304800" lvl="0" marL="457200" rtl="0" algn="l">
              <a:spcBef>
                <a:spcPts val="1100"/>
              </a:spcBef>
              <a:spcAft>
                <a:spcPts val="0"/>
              </a:spcAft>
              <a:buClr>
                <a:srgbClr val="436B4E"/>
              </a:buClr>
              <a:buSzPts val="1200"/>
              <a:buFont typeface="Calibri"/>
              <a:buChar char="•"/>
            </a:pPr>
            <a:r>
              <a:rPr b="1" lang="en-US" sz="1100">
                <a:solidFill>
                  <a:schemeClr val="dk1"/>
                </a:solidFill>
              </a:rPr>
              <a:t>Multi-signal risk engine:</a:t>
            </a:r>
            <a:r>
              <a:rPr lang="en-US" sz="1100">
                <a:solidFill>
                  <a:schemeClr val="dk1"/>
                </a:solidFill>
              </a:rPr>
              <a:t> Don't rely on the deepfake detector alone; combine authenticity, speaker match, behavioural and transaction/context signals.</a:t>
            </a:r>
            <a:endParaRPr sz="1100">
              <a:solidFill>
                <a:schemeClr val="dk1"/>
              </a:solidFill>
            </a:endParaRPr>
          </a:p>
          <a:p>
            <a:pPr indent="-304800" lvl="0" marL="457200" rtl="0" algn="l">
              <a:spcBef>
                <a:spcPts val="1100"/>
              </a:spcBef>
              <a:spcAft>
                <a:spcPts val="0"/>
              </a:spcAft>
              <a:buClr>
                <a:srgbClr val="436B4E"/>
              </a:buClr>
              <a:buSzPts val="1200"/>
              <a:buFont typeface="Calibri"/>
              <a:buChar char="•"/>
            </a:pPr>
            <a:r>
              <a:rPr b="1" lang="en-US" sz="1100">
                <a:solidFill>
                  <a:schemeClr val="dk1"/>
                </a:solidFill>
              </a:rPr>
              <a:t>Confidence + escalation:</a:t>
            </a:r>
            <a:r>
              <a:rPr lang="en-US" sz="1100">
                <a:solidFill>
                  <a:schemeClr val="dk1"/>
                </a:solidFill>
              </a:rPr>
              <a:t> Treat uncertain cases as </a:t>
            </a:r>
            <a:r>
              <a:rPr b="1" lang="en-US" sz="1100">
                <a:solidFill>
                  <a:schemeClr val="dk1"/>
                </a:solidFill>
              </a:rPr>
              <a:t>“needs verification”</a:t>
            </a:r>
            <a:r>
              <a:rPr lang="en-US" sz="1100">
                <a:solidFill>
                  <a:schemeClr val="dk1"/>
                </a:solidFill>
              </a:rPr>
              <a:t> rather than making an absolute genuine/fake decision.</a:t>
            </a:r>
            <a:endParaRPr sz="1100">
              <a:solidFill>
                <a:schemeClr val="dk1"/>
              </a:solidFill>
            </a:endParaRPr>
          </a:p>
          <a:p>
            <a:pPr indent="-304800" lvl="0" marL="457200" rtl="0" algn="l">
              <a:spcBef>
                <a:spcPts val="1100"/>
              </a:spcBef>
              <a:spcAft>
                <a:spcPts val="0"/>
              </a:spcAft>
              <a:buClr>
                <a:srgbClr val="436B4E"/>
              </a:buClr>
              <a:buSzPts val="1200"/>
              <a:buFont typeface="Calibri"/>
              <a:buChar char="•"/>
            </a:pPr>
            <a:r>
              <a:rPr b="1" lang="en-US" sz="1100">
                <a:solidFill>
                  <a:schemeClr val="dk1"/>
                </a:solidFill>
              </a:rPr>
              <a:t>Privacy-by-design:</a:t>
            </a:r>
            <a:r>
              <a:rPr lang="en-US" sz="1100">
                <a:solidFill>
                  <a:schemeClr val="dk1"/>
                </a:solidFill>
              </a:rPr>
              <a:t> Minimize raw audio storage, encrypt sensitive data, restrict access and provide deletion/retention controls.</a:t>
            </a:r>
            <a:endParaRPr sz="1100">
              <a:solidFill>
                <a:schemeClr val="dk1"/>
              </a:solidFill>
            </a:endParaRPr>
          </a:p>
          <a:p>
            <a:pPr indent="-304800" lvl="0" marL="457200" rtl="0" algn="l">
              <a:spcBef>
                <a:spcPts val="1100"/>
              </a:spcBef>
              <a:spcAft>
                <a:spcPts val="0"/>
              </a:spcAft>
              <a:buClr>
                <a:srgbClr val="436B4E"/>
              </a:buClr>
              <a:buSzPts val="1200"/>
              <a:buFont typeface="Calibri"/>
              <a:buChar char="•"/>
            </a:pPr>
            <a:r>
              <a:rPr b="1" lang="en-US" sz="1100">
                <a:solidFill>
                  <a:schemeClr val="dk1"/>
                </a:solidFill>
              </a:rPr>
              <a:t>Human-in-the-loop prevention:</a:t>
            </a:r>
            <a:r>
              <a:rPr lang="en-US" sz="1100">
                <a:solidFill>
                  <a:schemeClr val="dk1"/>
                </a:solidFill>
              </a:rPr>
              <a:t> High-risk cases trigger secondary verification, alerts or a simulated transaction hold rather than fully autonomous financial decisions</a:t>
            </a:r>
            <a:endParaRPr i="1" sz="1200">
              <a:solidFill>
                <a:srgbClr val="436B4E"/>
              </a:solidFill>
              <a:latin typeface="Calibri"/>
              <a:ea typeface="Calibri"/>
              <a:cs typeface="Calibri"/>
              <a:sym typeface="Calibri"/>
            </a:endParaRPr>
          </a:p>
        </p:txBody>
      </p:sp>
      <p:sp>
        <p:nvSpPr>
          <p:cNvPr id="192" name="Google Shape;192;p6"/>
          <p:cNvSpPr/>
          <p:nvPr/>
        </p:nvSpPr>
        <p:spPr>
          <a:xfrm>
            <a:off x="548640" y="6519672"/>
            <a:ext cx="8686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81F19"/>
              </a:buClr>
              <a:buSzPts val="900"/>
              <a:buFont typeface="Calibri"/>
              <a:buNone/>
            </a:pPr>
            <a:r>
              <a:rPr b="1" i="0" lang="en-US" sz="900" u="none" cap="none" strike="noStrike">
                <a:solidFill>
                  <a:srgbClr val="781F19"/>
                </a:solidFill>
                <a:latin typeface="Calibri"/>
                <a:ea typeface="Calibri"/>
                <a:cs typeface="Calibri"/>
                <a:sym typeface="Calibri"/>
              </a:rPr>
              <a:t>IITM BS Degree Programme</a:t>
            </a:r>
            <a:r>
              <a:rPr b="0" i="0" lang="en-US" sz="900" u="none" cap="none" strike="noStrike">
                <a:solidFill>
                  <a:srgbClr val="666B74"/>
                </a:solidFill>
                <a:latin typeface="Calibri"/>
                <a:ea typeface="Calibri"/>
                <a:cs typeface="Calibri"/>
                <a:sym typeface="Calibri"/>
              </a:rPr>
              <a:t>   ·   SIH Internal Hackathon, Presentation </a:t>
            </a:r>
            <a:endParaRPr b="0" i="0" sz="900" u="none" cap="none" strike="noStrike">
              <a:solidFill>
                <a:schemeClr val="dk1"/>
              </a:solidFill>
              <a:latin typeface="Calibri"/>
              <a:ea typeface="Calibri"/>
              <a:cs typeface="Calibri"/>
              <a:sym typeface="Calibri"/>
            </a:endParaRPr>
          </a:p>
        </p:txBody>
      </p:sp>
      <p:sp>
        <p:nvSpPr>
          <p:cNvPr id="193" name="Google Shape;193;p6"/>
          <p:cNvSpPr/>
          <p:nvPr/>
        </p:nvSpPr>
        <p:spPr>
          <a:xfrm>
            <a:off x="8897112" y="6519672"/>
            <a:ext cx="274320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66B74"/>
              </a:buClr>
              <a:buSzPts val="900"/>
              <a:buFont typeface="Calibri"/>
              <a:buNone/>
            </a:pPr>
            <a:r>
              <a:rPr b="0" i="0" lang="en-US" sz="900" u="none" cap="none" strike="noStrike">
                <a:solidFill>
                  <a:srgbClr val="666B74"/>
                </a:solidFill>
                <a:latin typeface="Calibri"/>
                <a:ea typeface="Calibri"/>
                <a:cs typeface="Calibri"/>
                <a:sym typeface="Calibri"/>
              </a:rPr>
              <a:t>Section 05 of 08</a:t>
            </a:r>
            <a:endParaRPr b="0" i="0" sz="900" u="none" cap="none" strike="noStrike">
              <a:solidFill>
                <a:schemeClr val="dk1"/>
              </a:solidFill>
              <a:latin typeface="Calibri"/>
              <a:ea typeface="Calibri"/>
              <a:cs typeface="Calibri"/>
              <a:sym typeface="Calibri"/>
            </a:endParaRPr>
          </a:p>
        </p:txBody>
      </p:sp>
      <p:cxnSp>
        <p:nvCxnSpPr>
          <p:cNvPr id="194" name="Google Shape;194;p6"/>
          <p:cNvCxnSpPr/>
          <p:nvPr/>
        </p:nvCxnSpPr>
        <p:spPr>
          <a:xfrm>
            <a:off x="548640" y="6473952"/>
            <a:ext cx="11091672" cy="0"/>
          </a:xfrm>
          <a:prstGeom prst="straightConnector1">
            <a:avLst/>
          </a:prstGeom>
          <a:noFill/>
          <a:ln cap="flat" cmpd="sng" w="12700">
            <a:solidFill>
              <a:srgbClr val="E7E9F0"/>
            </a:solidFill>
            <a:prstDash val="solid"/>
            <a:round/>
            <a:headEnd len="sm" w="sm" type="none"/>
            <a:tailEnd len="sm" w="sm"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9" name="Shape 199"/>
        <p:cNvGrpSpPr/>
        <p:nvPr/>
      </p:nvGrpSpPr>
      <p:grpSpPr>
        <a:xfrm>
          <a:off x="0" y="0"/>
          <a:ext cx="0" cy="0"/>
          <a:chOff x="0" y="0"/>
          <a:chExt cx="0" cy="0"/>
        </a:xfrm>
      </p:grpSpPr>
      <p:sp>
        <p:nvSpPr>
          <p:cNvPr id="200" name="Google Shape;200;p7"/>
          <p:cNvSpPr/>
          <p:nvPr/>
        </p:nvSpPr>
        <p:spPr>
          <a:xfrm>
            <a:off x="548640" y="420624"/>
            <a:ext cx="365760" cy="365760"/>
          </a:xfrm>
          <a:prstGeom prst="ellipse">
            <a:avLst/>
          </a:prstGeom>
          <a:solidFill>
            <a:srgbClr val="781F19"/>
          </a:solidFill>
          <a:ln cap="flat" cmpd="sng" w="15875">
            <a:solidFill>
              <a:srgbClr val="D6A64F"/>
            </a:solidFill>
            <a:prstDash val="solid"/>
            <a:round/>
            <a:headEnd len="sm" w="sm" type="none"/>
            <a:tailEnd len="sm" w="sm" type="none"/>
          </a:ln>
          <a:effectLst>
            <a:outerShdw blurRad="76200" rotWithShape="0" algn="bl" dir="5400000" dist="19050">
              <a:srgbClr val="1B1F3B">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7"/>
          <p:cNvSpPr/>
          <p:nvPr/>
        </p:nvSpPr>
        <p:spPr>
          <a:xfrm>
            <a:off x="548640" y="420624"/>
            <a:ext cx="365760" cy="3657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6</a:t>
            </a:r>
            <a:endParaRPr b="0" i="0" sz="1500" u="none" cap="none" strike="noStrike">
              <a:solidFill>
                <a:schemeClr val="dk1"/>
              </a:solidFill>
              <a:latin typeface="Calibri"/>
              <a:ea typeface="Calibri"/>
              <a:cs typeface="Calibri"/>
              <a:sym typeface="Calibri"/>
            </a:endParaRPr>
          </a:p>
        </p:txBody>
      </p:sp>
      <p:sp>
        <p:nvSpPr>
          <p:cNvPr id="202" name="Google Shape;202;p7"/>
          <p:cNvSpPr/>
          <p:nvPr/>
        </p:nvSpPr>
        <p:spPr>
          <a:xfrm>
            <a:off x="1051560" y="402336"/>
            <a:ext cx="548640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81F19"/>
              </a:buClr>
              <a:buSzPts val="1250"/>
              <a:buFont typeface="Calibri"/>
              <a:buNone/>
            </a:pPr>
            <a:r>
              <a:rPr b="1" i="0" lang="en-US" sz="1250" u="none" cap="none" strike="noStrike">
                <a:solidFill>
                  <a:srgbClr val="781F19"/>
                </a:solidFill>
                <a:latin typeface="Calibri"/>
                <a:ea typeface="Calibri"/>
                <a:cs typeface="Calibri"/>
                <a:sym typeface="Calibri"/>
              </a:rPr>
              <a:t>SECTION 06</a:t>
            </a:r>
            <a:endParaRPr b="0" i="0" sz="1250" u="none" cap="none" strike="noStrike">
              <a:solidFill>
                <a:schemeClr val="dk1"/>
              </a:solidFill>
              <a:latin typeface="Calibri"/>
              <a:ea typeface="Calibri"/>
              <a:cs typeface="Calibri"/>
              <a:sym typeface="Calibri"/>
            </a:endParaRPr>
          </a:p>
        </p:txBody>
      </p:sp>
      <p:sp>
        <p:nvSpPr>
          <p:cNvPr id="203" name="Google Shape;203;p7"/>
          <p:cNvSpPr/>
          <p:nvPr/>
        </p:nvSpPr>
        <p:spPr>
          <a:xfrm>
            <a:off x="1051560" y="621792"/>
            <a:ext cx="950976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Impact and Benefits</a:t>
            </a:r>
            <a:endParaRPr b="0" i="0" sz="2800" u="none" cap="none" strike="noStrike">
              <a:solidFill>
                <a:schemeClr val="dk1"/>
              </a:solidFill>
              <a:latin typeface="Calibri"/>
              <a:ea typeface="Calibri"/>
              <a:cs typeface="Calibri"/>
              <a:sym typeface="Calibri"/>
            </a:endParaRPr>
          </a:p>
        </p:txBody>
      </p:sp>
      <p:sp>
        <p:nvSpPr>
          <p:cNvPr id="204" name="Google Shape;204;p7"/>
          <p:cNvSpPr/>
          <p:nvPr/>
        </p:nvSpPr>
        <p:spPr>
          <a:xfrm>
            <a:off x="10981944" y="292608"/>
            <a:ext cx="658368" cy="658368"/>
          </a:xfrm>
          <a:prstGeom prst="ellipse">
            <a:avLst/>
          </a:prstGeom>
          <a:solidFill>
            <a:srgbClr val="FFFFFF"/>
          </a:solidFill>
          <a:ln cap="flat" cmpd="sng" w="19050">
            <a:solidFill>
              <a:srgbClr val="D6A64F"/>
            </a:solidFill>
            <a:prstDash val="solid"/>
            <a:round/>
            <a:headEnd len="sm" w="sm" type="none"/>
            <a:tailEnd len="sm" w="sm" type="none"/>
          </a:ln>
          <a:effectLst>
            <a:outerShdw blurRad="127000" rotWithShape="0" algn="bl" dir="5400000" dist="38100">
              <a:srgbClr val="1B1F3B">
                <a:alpha val="2196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iitm_bs_logo.png" id="205" name="Google Shape;205;p7"/>
          <p:cNvPicPr preferRelativeResize="0"/>
          <p:nvPr/>
        </p:nvPicPr>
        <p:blipFill rotWithShape="1">
          <a:blip r:embed="rId3">
            <a:alphaModFix/>
          </a:blip>
          <a:srcRect b="0" l="0" r="0" t="0"/>
          <a:stretch/>
        </p:blipFill>
        <p:spPr>
          <a:xfrm>
            <a:off x="11064240" y="374904"/>
            <a:ext cx="493776" cy="493776"/>
          </a:xfrm>
          <a:prstGeom prst="rect">
            <a:avLst/>
          </a:prstGeom>
          <a:noFill/>
          <a:ln>
            <a:noFill/>
          </a:ln>
        </p:spPr>
      </p:pic>
      <p:sp>
        <p:nvSpPr>
          <p:cNvPr id="206" name="Google Shape;206;p7"/>
          <p:cNvSpPr/>
          <p:nvPr/>
        </p:nvSpPr>
        <p:spPr>
          <a:xfrm>
            <a:off x="548640" y="1417320"/>
            <a:ext cx="5029200" cy="4800600"/>
          </a:xfrm>
          <a:prstGeom prst="roundRect">
            <a:avLst>
              <a:gd fmla="val 1714" name="adj"/>
            </a:avLst>
          </a:prstGeom>
          <a:solidFill>
            <a:srgbClr val="FBF7EA"/>
          </a:solidFill>
          <a:ln cap="flat" cmpd="sng" w="12700">
            <a:solidFill>
              <a:srgbClr val="E9DFC0"/>
            </a:solidFill>
            <a:prstDash val="solid"/>
            <a:round/>
            <a:headEnd len="sm" w="sm" type="none"/>
            <a:tailEnd len="sm" w="sm" type="none"/>
          </a:ln>
          <a:effectLst>
            <a:outerShdw blurRad="101600" rotWithShape="0" algn="bl" dir="5400000" dist="25400">
              <a:srgbClr val="1B1F3B">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7"/>
          <p:cNvSpPr/>
          <p:nvPr/>
        </p:nvSpPr>
        <p:spPr>
          <a:xfrm>
            <a:off x="768096" y="1618488"/>
            <a:ext cx="329184" cy="329184"/>
          </a:xfrm>
          <a:prstGeom prst="ellipse">
            <a:avLst/>
          </a:prstGeom>
          <a:solidFill>
            <a:srgbClr val="D6A6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7"/>
          <p:cNvSpPr/>
          <p:nvPr/>
        </p:nvSpPr>
        <p:spPr>
          <a:xfrm>
            <a:off x="804672" y="2240280"/>
            <a:ext cx="4517136" cy="3794760"/>
          </a:xfrm>
          <a:prstGeom prst="rect">
            <a:avLst/>
          </a:prstGeom>
          <a:noFill/>
          <a:ln>
            <a:noFill/>
          </a:ln>
        </p:spPr>
        <p:txBody>
          <a:bodyPr anchorCtr="0" anchor="t" bIns="45700" lIns="91425" spcFirstLastPara="1" rIns="91425" wrap="square" tIns="45700">
            <a:noAutofit/>
          </a:bodyPr>
          <a:lstStyle/>
          <a:p>
            <a:pPr indent="-333375" lvl="0" marL="457200" rtl="0" algn="l">
              <a:lnSpc>
                <a:spcPct val="115000"/>
              </a:lnSpc>
              <a:spcBef>
                <a:spcPts val="1200"/>
              </a:spcBef>
              <a:spcAft>
                <a:spcPts val="0"/>
              </a:spcAft>
              <a:buClr>
                <a:srgbClr val="4A4A4A"/>
              </a:buClr>
              <a:buSzPts val="1650"/>
              <a:buFont typeface="Calibri"/>
              <a:buChar char="•"/>
            </a:pPr>
            <a:r>
              <a:rPr lang="en-US" sz="1500">
                <a:solidFill>
                  <a:schemeClr val="dk1"/>
                </a:solidFill>
              </a:rPr>
              <a:t>SENTRY creates meaningful social and economic impact by protecting individuals and institutions from voice-based impersonation, fraud, and social engineering. </a:t>
            </a:r>
            <a:endParaRPr sz="1500">
              <a:solidFill>
                <a:schemeClr val="dk1"/>
              </a:solidFill>
            </a:endParaRPr>
          </a:p>
          <a:p>
            <a:pPr indent="-333375" lvl="0" marL="457200" rtl="0" algn="l">
              <a:lnSpc>
                <a:spcPct val="115000"/>
              </a:lnSpc>
              <a:spcBef>
                <a:spcPts val="0"/>
              </a:spcBef>
              <a:spcAft>
                <a:spcPts val="0"/>
              </a:spcAft>
              <a:buClr>
                <a:srgbClr val="4A4A4A"/>
              </a:buClr>
              <a:buSzPts val="1650"/>
              <a:buFont typeface="Calibri"/>
              <a:buChar char="•"/>
            </a:pPr>
            <a:r>
              <a:rPr lang="en-US" sz="1500">
                <a:solidFill>
                  <a:schemeClr val="dk1"/>
                </a:solidFill>
              </a:rPr>
              <a:t>By combining real-time voice detection, speaker verification, and risk assessment, it can help prevent unsafe interactions and reduce potential financial losses. </a:t>
            </a:r>
            <a:endParaRPr sz="1500">
              <a:solidFill>
                <a:schemeClr val="dk1"/>
              </a:solidFill>
            </a:endParaRPr>
          </a:p>
          <a:p>
            <a:pPr indent="-333375" lvl="0" marL="457200" rtl="0" algn="l">
              <a:lnSpc>
                <a:spcPct val="115000"/>
              </a:lnSpc>
              <a:spcBef>
                <a:spcPts val="0"/>
              </a:spcBef>
              <a:spcAft>
                <a:spcPts val="0"/>
              </a:spcAft>
              <a:buClr>
                <a:srgbClr val="4A4A4A"/>
              </a:buClr>
              <a:buSzPts val="1650"/>
              <a:buFont typeface="Calibri"/>
              <a:buChar char="•"/>
            </a:pPr>
            <a:r>
              <a:rPr lang="en-US" sz="1500">
                <a:solidFill>
                  <a:schemeClr val="dk1"/>
                </a:solidFill>
              </a:rPr>
              <a:t>As a software-based solution, its primary value is in strengthening digital trust and security, with minimal direct environmental impact.</a:t>
            </a:r>
            <a:endParaRPr sz="1500">
              <a:solidFill>
                <a:schemeClr val="dk1"/>
              </a:solidFill>
            </a:endParaRPr>
          </a:p>
        </p:txBody>
      </p:sp>
      <p:sp>
        <p:nvSpPr>
          <p:cNvPr id="209" name="Google Shape;209;p7"/>
          <p:cNvSpPr/>
          <p:nvPr/>
        </p:nvSpPr>
        <p:spPr>
          <a:xfrm>
            <a:off x="6309360" y="1417320"/>
            <a:ext cx="5212080" cy="1536192"/>
          </a:xfrm>
          <a:prstGeom prst="roundRect">
            <a:avLst>
              <a:gd fmla="val 5357" name="adj"/>
            </a:avLst>
          </a:prstGeom>
          <a:solidFill>
            <a:srgbClr val="F5F6FA"/>
          </a:solidFill>
          <a:ln cap="flat" cmpd="sng" w="12700">
            <a:solidFill>
              <a:srgbClr val="E7E9F0"/>
            </a:solidFill>
            <a:prstDash val="solid"/>
            <a:round/>
            <a:headEnd len="sm" w="sm" type="none"/>
            <a:tailEnd len="sm" w="sm" type="none"/>
          </a:ln>
          <a:effectLst>
            <a:outerShdw blurRad="114300" rotWithShape="0" algn="bl" dir="5400000" dist="25400">
              <a:srgbClr val="1B1F3B">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7"/>
          <p:cNvSpPr/>
          <p:nvPr/>
        </p:nvSpPr>
        <p:spPr>
          <a:xfrm>
            <a:off x="6528816" y="1636776"/>
            <a:ext cx="457200" cy="457200"/>
          </a:xfrm>
          <a:prstGeom prst="ellipse">
            <a:avLst/>
          </a:prstGeom>
          <a:solidFill>
            <a:srgbClr val="D6A64F"/>
          </a:solidFill>
          <a:ln cap="flat" cmpd="sng" w="15875">
            <a:solidFill>
              <a:srgbClr val="781F19"/>
            </a:solidFill>
            <a:prstDash val="solid"/>
            <a:round/>
            <a:headEnd len="sm" w="sm" type="none"/>
            <a:tailEnd len="sm" w="sm" type="none"/>
          </a:ln>
          <a:effectLst>
            <a:outerShdw blurRad="76200" rotWithShape="0" algn="bl" dir="5400000" dist="19050">
              <a:srgbClr val="1B1F3B">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7"/>
          <p:cNvSpPr/>
          <p:nvPr/>
        </p:nvSpPr>
        <p:spPr>
          <a:xfrm>
            <a:off x="6528816" y="1636776"/>
            <a:ext cx="4572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2173D"/>
              </a:buClr>
              <a:buSzPts val="1600"/>
              <a:buFont typeface="Calibri"/>
              <a:buNone/>
            </a:pPr>
            <a:r>
              <a:rPr b="1" i="0" lang="en-US" sz="1600" u="none" cap="none" strike="noStrike">
                <a:solidFill>
                  <a:srgbClr val="12173D"/>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212" name="Google Shape;212;p7"/>
          <p:cNvSpPr/>
          <p:nvPr/>
        </p:nvSpPr>
        <p:spPr>
          <a:xfrm>
            <a:off x="7168896" y="1600200"/>
            <a:ext cx="416052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1500"/>
              <a:buFont typeface="Calibri"/>
              <a:buNone/>
            </a:pPr>
            <a:r>
              <a:rPr b="1" i="0" lang="en-US" sz="1500" u="none" cap="none" strike="noStrike">
                <a:solidFill>
                  <a:srgbClr val="1E2761"/>
                </a:solidFill>
                <a:latin typeface="Calibri"/>
                <a:ea typeface="Calibri"/>
                <a:cs typeface="Calibri"/>
                <a:sym typeface="Calibri"/>
              </a:rPr>
              <a:t>Social Impact</a:t>
            </a:r>
            <a:endParaRPr b="0" i="0" sz="1500" u="none" cap="none" strike="noStrike">
              <a:solidFill>
                <a:schemeClr val="dk1"/>
              </a:solidFill>
              <a:latin typeface="Calibri"/>
              <a:ea typeface="Calibri"/>
              <a:cs typeface="Calibri"/>
              <a:sym typeface="Calibri"/>
            </a:endParaRPr>
          </a:p>
        </p:txBody>
      </p:sp>
      <p:sp>
        <p:nvSpPr>
          <p:cNvPr id="213" name="Google Shape;213;p7"/>
          <p:cNvSpPr/>
          <p:nvPr/>
        </p:nvSpPr>
        <p:spPr>
          <a:xfrm>
            <a:off x="7040925" y="2058725"/>
            <a:ext cx="4288500" cy="738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66B74"/>
              </a:buClr>
              <a:buSzPts val="1200"/>
              <a:buFont typeface="Calibri"/>
              <a:buNone/>
            </a:pPr>
            <a:r>
              <a:rPr lang="en-US" sz="1200">
                <a:solidFill>
                  <a:schemeClr val="dk1"/>
                </a:solidFill>
              </a:rPr>
              <a:t>Protects individuals and institutions from voice impersonation, social engineering and unauthorized actions through real-time detection, warnings and secondary verification. </a:t>
            </a:r>
            <a:endParaRPr i="1" sz="1300">
              <a:solidFill>
                <a:srgbClr val="666B74"/>
              </a:solidFill>
            </a:endParaRPr>
          </a:p>
        </p:txBody>
      </p:sp>
      <p:sp>
        <p:nvSpPr>
          <p:cNvPr id="214" name="Google Shape;214;p7"/>
          <p:cNvSpPr/>
          <p:nvPr/>
        </p:nvSpPr>
        <p:spPr>
          <a:xfrm>
            <a:off x="6309360" y="3136392"/>
            <a:ext cx="5212080" cy="1536192"/>
          </a:xfrm>
          <a:prstGeom prst="roundRect">
            <a:avLst>
              <a:gd fmla="val 5357" name="adj"/>
            </a:avLst>
          </a:prstGeom>
          <a:solidFill>
            <a:srgbClr val="F5F6FA"/>
          </a:solidFill>
          <a:ln cap="flat" cmpd="sng" w="12700">
            <a:solidFill>
              <a:srgbClr val="E7E9F0"/>
            </a:solidFill>
            <a:prstDash val="solid"/>
            <a:round/>
            <a:headEnd len="sm" w="sm" type="none"/>
            <a:tailEnd len="sm" w="sm" type="none"/>
          </a:ln>
          <a:effectLst>
            <a:outerShdw blurRad="114300" rotWithShape="0" algn="bl" dir="5400000" dist="25400">
              <a:srgbClr val="1B1F3B">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7"/>
          <p:cNvSpPr/>
          <p:nvPr/>
        </p:nvSpPr>
        <p:spPr>
          <a:xfrm>
            <a:off x="6528816" y="3355848"/>
            <a:ext cx="457200" cy="457200"/>
          </a:xfrm>
          <a:prstGeom prst="ellipse">
            <a:avLst/>
          </a:prstGeom>
          <a:solidFill>
            <a:srgbClr val="D6A64F"/>
          </a:solidFill>
          <a:ln cap="flat" cmpd="sng" w="15875">
            <a:solidFill>
              <a:srgbClr val="781F19"/>
            </a:solidFill>
            <a:prstDash val="solid"/>
            <a:round/>
            <a:headEnd len="sm" w="sm" type="none"/>
            <a:tailEnd len="sm" w="sm" type="none"/>
          </a:ln>
          <a:effectLst>
            <a:outerShdw blurRad="76200" rotWithShape="0" algn="bl" dir="5400000" dist="19050">
              <a:srgbClr val="1B1F3B">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7"/>
          <p:cNvSpPr/>
          <p:nvPr/>
        </p:nvSpPr>
        <p:spPr>
          <a:xfrm>
            <a:off x="6528816" y="3355848"/>
            <a:ext cx="4572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2173D"/>
              </a:buClr>
              <a:buSzPts val="1600"/>
              <a:buFont typeface="Calibri"/>
              <a:buNone/>
            </a:pPr>
            <a:r>
              <a:rPr b="1" i="0" lang="en-US" sz="1600" u="none" cap="none" strike="noStrike">
                <a:solidFill>
                  <a:srgbClr val="12173D"/>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217" name="Google Shape;217;p7"/>
          <p:cNvSpPr/>
          <p:nvPr/>
        </p:nvSpPr>
        <p:spPr>
          <a:xfrm>
            <a:off x="7168896" y="3319272"/>
            <a:ext cx="416052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1500"/>
              <a:buFont typeface="Calibri"/>
              <a:buNone/>
            </a:pPr>
            <a:r>
              <a:rPr b="1" i="0" lang="en-US" sz="1500" u="none" cap="none" strike="noStrike">
                <a:solidFill>
                  <a:srgbClr val="1E2761"/>
                </a:solidFill>
                <a:latin typeface="Calibri"/>
                <a:ea typeface="Calibri"/>
                <a:cs typeface="Calibri"/>
                <a:sym typeface="Calibri"/>
              </a:rPr>
              <a:t>Economic Impact</a:t>
            </a:r>
            <a:endParaRPr b="0" i="0" sz="1500" u="none" cap="none" strike="noStrike">
              <a:solidFill>
                <a:schemeClr val="dk1"/>
              </a:solidFill>
              <a:latin typeface="Calibri"/>
              <a:ea typeface="Calibri"/>
              <a:cs typeface="Calibri"/>
              <a:sym typeface="Calibri"/>
            </a:endParaRPr>
          </a:p>
        </p:txBody>
      </p:sp>
      <p:sp>
        <p:nvSpPr>
          <p:cNvPr id="218" name="Google Shape;218;p7"/>
          <p:cNvSpPr/>
          <p:nvPr/>
        </p:nvSpPr>
        <p:spPr>
          <a:xfrm>
            <a:off x="7168896" y="3685032"/>
            <a:ext cx="4160520" cy="8229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66B74"/>
              </a:buClr>
              <a:buSzPts val="1200"/>
              <a:buFont typeface="Calibri"/>
              <a:buNone/>
            </a:pPr>
            <a:r>
              <a:rPr lang="en-US" sz="1200">
                <a:solidFill>
                  <a:srgbClr val="666B74"/>
                </a:solidFill>
              </a:rPr>
              <a:t>Reduces potential fraud exposure by combining voice, identity, behavioural and transaction risk into a single actionable score. </a:t>
            </a:r>
            <a:endParaRPr sz="1200" u="none" cap="none" strike="noStrike">
              <a:solidFill>
                <a:schemeClr val="dk1"/>
              </a:solidFill>
            </a:endParaRPr>
          </a:p>
        </p:txBody>
      </p:sp>
      <p:sp>
        <p:nvSpPr>
          <p:cNvPr id="219" name="Google Shape;219;p7"/>
          <p:cNvSpPr/>
          <p:nvPr/>
        </p:nvSpPr>
        <p:spPr>
          <a:xfrm>
            <a:off x="6309360" y="4855464"/>
            <a:ext cx="5212080" cy="1536192"/>
          </a:xfrm>
          <a:prstGeom prst="roundRect">
            <a:avLst>
              <a:gd fmla="val 5357" name="adj"/>
            </a:avLst>
          </a:prstGeom>
          <a:solidFill>
            <a:srgbClr val="F5F6FA"/>
          </a:solidFill>
          <a:ln cap="flat" cmpd="sng" w="12700">
            <a:solidFill>
              <a:srgbClr val="E7E9F0"/>
            </a:solidFill>
            <a:prstDash val="solid"/>
            <a:round/>
            <a:headEnd len="sm" w="sm" type="none"/>
            <a:tailEnd len="sm" w="sm" type="none"/>
          </a:ln>
          <a:effectLst>
            <a:outerShdw blurRad="114300" rotWithShape="0" algn="bl" dir="5400000" dist="25400">
              <a:srgbClr val="1B1F3B">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7"/>
          <p:cNvSpPr/>
          <p:nvPr/>
        </p:nvSpPr>
        <p:spPr>
          <a:xfrm>
            <a:off x="6528816" y="5074920"/>
            <a:ext cx="457200" cy="457200"/>
          </a:xfrm>
          <a:prstGeom prst="ellipse">
            <a:avLst/>
          </a:prstGeom>
          <a:solidFill>
            <a:srgbClr val="D6A64F"/>
          </a:solidFill>
          <a:ln cap="flat" cmpd="sng" w="15875">
            <a:solidFill>
              <a:srgbClr val="781F19"/>
            </a:solidFill>
            <a:prstDash val="solid"/>
            <a:round/>
            <a:headEnd len="sm" w="sm" type="none"/>
            <a:tailEnd len="sm" w="sm" type="none"/>
          </a:ln>
          <a:effectLst>
            <a:outerShdw blurRad="76200" rotWithShape="0" algn="bl" dir="5400000" dist="19050">
              <a:srgbClr val="1B1F3B">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7"/>
          <p:cNvSpPr/>
          <p:nvPr/>
        </p:nvSpPr>
        <p:spPr>
          <a:xfrm>
            <a:off x="6528816" y="5074920"/>
            <a:ext cx="457200" cy="4572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2173D"/>
              </a:buClr>
              <a:buSzPts val="1600"/>
              <a:buFont typeface="Calibri"/>
              <a:buNone/>
            </a:pPr>
            <a:r>
              <a:rPr b="1" i="0" lang="en-US" sz="1600" u="none" cap="none" strike="noStrike">
                <a:solidFill>
                  <a:srgbClr val="12173D"/>
                </a:solidFill>
                <a:latin typeface="Calibri"/>
                <a:ea typeface="Calibri"/>
                <a:cs typeface="Calibri"/>
                <a:sym typeface="Calibri"/>
              </a:rPr>
              <a:t>▲</a:t>
            </a:r>
            <a:endParaRPr b="0" i="0" sz="1600" u="none" cap="none" strike="noStrike">
              <a:solidFill>
                <a:schemeClr val="dk1"/>
              </a:solidFill>
              <a:latin typeface="Calibri"/>
              <a:ea typeface="Calibri"/>
              <a:cs typeface="Calibri"/>
              <a:sym typeface="Calibri"/>
            </a:endParaRPr>
          </a:p>
        </p:txBody>
      </p:sp>
      <p:sp>
        <p:nvSpPr>
          <p:cNvPr id="222" name="Google Shape;222;p7"/>
          <p:cNvSpPr/>
          <p:nvPr/>
        </p:nvSpPr>
        <p:spPr>
          <a:xfrm>
            <a:off x="7168896" y="5038344"/>
            <a:ext cx="4160520" cy="3200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1500"/>
              <a:buFont typeface="Calibri"/>
              <a:buNone/>
            </a:pPr>
            <a:r>
              <a:rPr b="1" i="0" lang="en-US" sz="1500" u="none" cap="none" strike="noStrike">
                <a:solidFill>
                  <a:srgbClr val="1E2761"/>
                </a:solidFill>
                <a:latin typeface="Calibri"/>
                <a:ea typeface="Calibri"/>
                <a:cs typeface="Calibri"/>
                <a:sym typeface="Calibri"/>
              </a:rPr>
              <a:t>Environmental Impact</a:t>
            </a:r>
            <a:endParaRPr b="0" i="0" sz="1500" u="none" cap="none" strike="noStrike">
              <a:solidFill>
                <a:schemeClr val="dk1"/>
              </a:solidFill>
              <a:latin typeface="Calibri"/>
              <a:ea typeface="Calibri"/>
              <a:cs typeface="Calibri"/>
              <a:sym typeface="Calibri"/>
            </a:endParaRPr>
          </a:p>
        </p:txBody>
      </p:sp>
      <p:sp>
        <p:nvSpPr>
          <p:cNvPr id="223" name="Google Shape;223;p7"/>
          <p:cNvSpPr/>
          <p:nvPr/>
        </p:nvSpPr>
        <p:spPr>
          <a:xfrm>
            <a:off x="7168896" y="5404104"/>
            <a:ext cx="4160520" cy="8229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666B74"/>
              </a:buClr>
              <a:buSzPts val="1200"/>
              <a:buFont typeface="Calibri"/>
              <a:buNone/>
            </a:pPr>
            <a:r>
              <a:rPr lang="en-US" sz="1200">
                <a:solidFill>
                  <a:srgbClr val="666B74"/>
                </a:solidFill>
              </a:rPr>
              <a:t>Software-first solution with minimal direct environmental footprint; optimized cloud/edge processing can support efficient digital security operations. </a:t>
            </a:r>
            <a:endParaRPr sz="1200" u="none" cap="none" strike="noStrike">
              <a:solidFill>
                <a:schemeClr val="dk1"/>
              </a:solidFill>
            </a:endParaRPr>
          </a:p>
        </p:txBody>
      </p:sp>
      <p:sp>
        <p:nvSpPr>
          <p:cNvPr id="224" name="Google Shape;224;p7"/>
          <p:cNvSpPr/>
          <p:nvPr/>
        </p:nvSpPr>
        <p:spPr>
          <a:xfrm>
            <a:off x="548640" y="6519672"/>
            <a:ext cx="8686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81F19"/>
              </a:buClr>
              <a:buSzPts val="900"/>
              <a:buFont typeface="Calibri"/>
              <a:buNone/>
            </a:pPr>
            <a:r>
              <a:rPr b="1" i="0" lang="en-US" sz="900" u="none" cap="none" strike="noStrike">
                <a:solidFill>
                  <a:srgbClr val="781F19"/>
                </a:solidFill>
                <a:latin typeface="Calibri"/>
                <a:ea typeface="Calibri"/>
                <a:cs typeface="Calibri"/>
                <a:sym typeface="Calibri"/>
              </a:rPr>
              <a:t>IITM BS Degree Programme</a:t>
            </a:r>
            <a:r>
              <a:rPr b="0" i="0" lang="en-US" sz="900" u="none" cap="none" strike="noStrike">
                <a:solidFill>
                  <a:srgbClr val="666B74"/>
                </a:solidFill>
                <a:latin typeface="Calibri"/>
                <a:ea typeface="Calibri"/>
                <a:cs typeface="Calibri"/>
                <a:sym typeface="Calibri"/>
              </a:rPr>
              <a:t>   ·   SIH Internal Hackathon, Presentation</a:t>
            </a:r>
            <a:endParaRPr b="0" i="0" sz="900" u="none" cap="none" strike="noStrike">
              <a:solidFill>
                <a:schemeClr val="dk1"/>
              </a:solidFill>
              <a:latin typeface="Calibri"/>
              <a:ea typeface="Calibri"/>
              <a:cs typeface="Calibri"/>
              <a:sym typeface="Calibri"/>
            </a:endParaRPr>
          </a:p>
        </p:txBody>
      </p:sp>
      <p:sp>
        <p:nvSpPr>
          <p:cNvPr id="225" name="Google Shape;225;p7"/>
          <p:cNvSpPr/>
          <p:nvPr/>
        </p:nvSpPr>
        <p:spPr>
          <a:xfrm>
            <a:off x="8897112" y="6519672"/>
            <a:ext cx="274320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66B74"/>
              </a:buClr>
              <a:buSzPts val="900"/>
              <a:buFont typeface="Calibri"/>
              <a:buNone/>
            </a:pPr>
            <a:r>
              <a:rPr b="0" i="0" lang="en-US" sz="900" u="none" cap="none" strike="noStrike">
                <a:solidFill>
                  <a:srgbClr val="666B74"/>
                </a:solidFill>
                <a:latin typeface="Calibri"/>
                <a:ea typeface="Calibri"/>
                <a:cs typeface="Calibri"/>
                <a:sym typeface="Calibri"/>
              </a:rPr>
              <a:t>Section 06 of 08</a:t>
            </a:r>
            <a:endParaRPr b="0" i="0" sz="900" u="none" cap="none" strike="noStrike">
              <a:solidFill>
                <a:schemeClr val="dk1"/>
              </a:solidFill>
              <a:latin typeface="Calibri"/>
              <a:ea typeface="Calibri"/>
              <a:cs typeface="Calibri"/>
              <a:sym typeface="Calibri"/>
            </a:endParaRPr>
          </a:p>
        </p:txBody>
      </p:sp>
      <p:cxnSp>
        <p:nvCxnSpPr>
          <p:cNvPr id="226" name="Google Shape;226;p7"/>
          <p:cNvCxnSpPr/>
          <p:nvPr/>
        </p:nvCxnSpPr>
        <p:spPr>
          <a:xfrm>
            <a:off x="548640" y="6473952"/>
            <a:ext cx="11091672" cy="0"/>
          </a:xfrm>
          <a:prstGeom prst="straightConnector1">
            <a:avLst/>
          </a:prstGeom>
          <a:noFill/>
          <a:ln cap="flat" cmpd="sng" w="12700">
            <a:solidFill>
              <a:srgbClr val="E7E9F0"/>
            </a:solidFill>
            <a:prstDash val="solid"/>
            <a:round/>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1" name="Shape 231"/>
        <p:cNvGrpSpPr/>
        <p:nvPr/>
      </p:nvGrpSpPr>
      <p:grpSpPr>
        <a:xfrm>
          <a:off x="0" y="0"/>
          <a:ext cx="0" cy="0"/>
          <a:chOff x="0" y="0"/>
          <a:chExt cx="0" cy="0"/>
        </a:xfrm>
      </p:grpSpPr>
      <p:sp>
        <p:nvSpPr>
          <p:cNvPr id="232" name="Google Shape;232;p8"/>
          <p:cNvSpPr/>
          <p:nvPr/>
        </p:nvSpPr>
        <p:spPr>
          <a:xfrm>
            <a:off x="548640" y="420624"/>
            <a:ext cx="365760" cy="365760"/>
          </a:xfrm>
          <a:prstGeom prst="ellipse">
            <a:avLst/>
          </a:prstGeom>
          <a:solidFill>
            <a:srgbClr val="781F19"/>
          </a:solidFill>
          <a:ln cap="flat" cmpd="sng" w="15875">
            <a:solidFill>
              <a:srgbClr val="D6A64F"/>
            </a:solidFill>
            <a:prstDash val="solid"/>
            <a:round/>
            <a:headEnd len="sm" w="sm" type="none"/>
            <a:tailEnd len="sm" w="sm" type="none"/>
          </a:ln>
          <a:effectLst>
            <a:outerShdw blurRad="76200" rotWithShape="0" algn="bl" dir="5400000" dist="19050">
              <a:srgbClr val="1B1F3B">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8"/>
          <p:cNvSpPr/>
          <p:nvPr/>
        </p:nvSpPr>
        <p:spPr>
          <a:xfrm>
            <a:off x="548640" y="420624"/>
            <a:ext cx="365760" cy="3657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7</a:t>
            </a:r>
            <a:endParaRPr b="0" i="0" sz="1500" u="none" cap="none" strike="noStrike">
              <a:solidFill>
                <a:schemeClr val="dk1"/>
              </a:solidFill>
              <a:latin typeface="Calibri"/>
              <a:ea typeface="Calibri"/>
              <a:cs typeface="Calibri"/>
              <a:sym typeface="Calibri"/>
            </a:endParaRPr>
          </a:p>
        </p:txBody>
      </p:sp>
      <p:sp>
        <p:nvSpPr>
          <p:cNvPr id="234" name="Google Shape;234;p8"/>
          <p:cNvSpPr/>
          <p:nvPr/>
        </p:nvSpPr>
        <p:spPr>
          <a:xfrm>
            <a:off x="1051560" y="402336"/>
            <a:ext cx="548640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81F19"/>
              </a:buClr>
              <a:buSzPts val="1250"/>
              <a:buFont typeface="Calibri"/>
              <a:buNone/>
            </a:pPr>
            <a:r>
              <a:rPr b="1" i="0" lang="en-US" sz="1250" u="none" cap="none" strike="noStrike">
                <a:solidFill>
                  <a:srgbClr val="781F19"/>
                </a:solidFill>
                <a:latin typeface="Calibri"/>
                <a:ea typeface="Calibri"/>
                <a:cs typeface="Calibri"/>
                <a:sym typeface="Calibri"/>
              </a:rPr>
              <a:t>SECTION 07</a:t>
            </a:r>
            <a:endParaRPr b="0" i="0" sz="1250" u="none" cap="none" strike="noStrike">
              <a:solidFill>
                <a:schemeClr val="dk1"/>
              </a:solidFill>
              <a:latin typeface="Calibri"/>
              <a:ea typeface="Calibri"/>
              <a:cs typeface="Calibri"/>
              <a:sym typeface="Calibri"/>
            </a:endParaRPr>
          </a:p>
        </p:txBody>
      </p:sp>
      <p:sp>
        <p:nvSpPr>
          <p:cNvPr id="235" name="Google Shape;235;p8"/>
          <p:cNvSpPr/>
          <p:nvPr/>
        </p:nvSpPr>
        <p:spPr>
          <a:xfrm>
            <a:off x="1051560" y="621792"/>
            <a:ext cx="950976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Research and References</a:t>
            </a:r>
            <a:endParaRPr b="0" i="0" sz="2800" u="none" cap="none" strike="noStrike">
              <a:solidFill>
                <a:schemeClr val="dk1"/>
              </a:solidFill>
              <a:latin typeface="Calibri"/>
              <a:ea typeface="Calibri"/>
              <a:cs typeface="Calibri"/>
              <a:sym typeface="Calibri"/>
            </a:endParaRPr>
          </a:p>
        </p:txBody>
      </p:sp>
      <p:sp>
        <p:nvSpPr>
          <p:cNvPr id="236" name="Google Shape;236;p8"/>
          <p:cNvSpPr/>
          <p:nvPr/>
        </p:nvSpPr>
        <p:spPr>
          <a:xfrm>
            <a:off x="10981944" y="292608"/>
            <a:ext cx="658368" cy="658368"/>
          </a:xfrm>
          <a:prstGeom prst="ellipse">
            <a:avLst/>
          </a:prstGeom>
          <a:solidFill>
            <a:srgbClr val="FFFFFF"/>
          </a:solidFill>
          <a:ln cap="flat" cmpd="sng" w="19050">
            <a:solidFill>
              <a:srgbClr val="D6A64F"/>
            </a:solidFill>
            <a:prstDash val="solid"/>
            <a:round/>
            <a:headEnd len="sm" w="sm" type="none"/>
            <a:tailEnd len="sm" w="sm" type="none"/>
          </a:ln>
          <a:effectLst>
            <a:outerShdw blurRad="127000" rotWithShape="0" algn="bl" dir="5400000" dist="38100">
              <a:srgbClr val="1B1F3B">
                <a:alpha val="2196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iitm_bs_logo.png" id="237" name="Google Shape;237;p8"/>
          <p:cNvPicPr preferRelativeResize="0"/>
          <p:nvPr/>
        </p:nvPicPr>
        <p:blipFill rotWithShape="1">
          <a:blip r:embed="rId3">
            <a:alphaModFix/>
          </a:blip>
          <a:srcRect b="0" l="0" r="0" t="0"/>
          <a:stretch/>
        </p:blipFill>
        <p:spPr>
          <a:xfrm>
            <a:off x="11064240" y="374904"/>
            <a:ext cx="493776" cy="493776"/>
          </a:xfrm>
          <a:prstGeom prst="rect">
            <a:avLst/>
          </a:prstGeom>
          <a:noFill/>
          <a:ln>
            <a:noFill/>
          </a:ln>
        </p:spPr>
      </p:pic>
      <p:sp>
        <p:nvSpPr>
          <p:cNvPr id="238" name="Google Shape;238;p8"/>
          <p:cNvSpPr/>
          <p:nvPr/>
        </p:nvSpPr>
        <p:spPr>
          <a:xfrm>
            <a:off x="810239" y="1341125"/>
            <a:ext cx="11091600" cy="4800600"/>
          </a:xfrm>
          <a:prstGeom prst="roundRect">
            <a:avLst>
              <a:gd fmla="val 1714" name="adj"/>
            </a:avLst>
          </a:prstGeom>
          <a:solidFill>
            <a:srgbClr val="F5F6FA"/>
          </a:solidFill>
          <a:ln cap="flat" cmpd="sng" w="12700">
            <a:solidFill>
              <a:srgbClr val="E7E9F0"/>
            </a:solidFill>
            <a:prstDash val="solid"/>
            <a:round/>
            <a:headEnd len="sm" w="sm" type="none"/>
            <a:tailEnd len="sm" w="sm" type="none"/>
          </a:ln>
          <a:effectLst>
            <a:outerShdw blurRad="114300" rotWithShape="0" algn="bl" dir="5400000" dist="25400">
              <a:srgbClr val="1B1F3B">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8"/>
          <p:cNvSpPr/>
          <p:nvPr/>
        </p:nvSpPr>
        <p:spPr>
          <a:xfrm>
            <a:off x="1393996" y="1551437"/>
            <a:ext cx="99240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81F19"/>
              </a:buClr>
              <a:buSzPts val="1250"/>
              <a:buFont typeface="Calibri"/>
              <a:buNone/>
            </a:pPr>
            <a:r>
              <a:rPr b="1" i="0" lang="en-US" sz="1250" u="none" cap="none" strike="noStrike">
                <a:solidFill>
                  <a:srgbClr val="781F19"/>
                </a:solidFill>
                <a:latin typeface="Calibri"/>
                <a:ea typeface="Calibri"/>
                <a:cs typeface="Calibri"/>
                <a:sym typeface="Calibri"/>
              </a:rPr>
              <a:t>REFERENCES</a:t>
            </a:r>
            <a:endParaRPr b="0" i="0" sz="1250" u="none" cap="none" strike="noStrike">
              <a:solidFill>
                <a:schemeClr val="dk1"/>
              </a:solidFill>
              <a:latin typeface="Calibri"/>
              <a:ea typeface="Calibri"/>
              <a:cs typeface="Calibri"/>
              <a:sym typeface="Calibri"/>
            </a:endParaRPr>
          </a:p>
        </p:txBody>
      </p:sp>
      <p:cxnSp>
        <p:nvCxnSpPr>
          <p:cNvPr id="240" name="Google Shape;240;p8"/>
          <p:cNvCxnSpPr/>
          <p:nvPr/>
        </p:nvCxnSpPr>
        <p:spPr>
          <a:xfrm>
            <a:off x="1393996" y="1880621"/>
            <a:ext cx="9924000" cy="0"/>
          </a:xfrm>
          <a:prstGeom prst="straightConnector1">
            <a:avLst/>
          </a:prstGeom>
          <a:noFill/>
          <a:ln cap="flat" cmpd="sng" w="12700">
            <a:solidFill>
              <a:srgbClr val="E7E9F0"/>
            </a:solidFill>
            <a:prstDash val="solid"/>
            <a:round/>
            <a:headEnd len="sm" w="sm" type="none"/>
            <a:tailEnd len="sm" w="sm" type="none"/>
          </a:ln>
        </p:spPr>
      </p:cxnSp>
      <p:sp>
        <p:nvSpPr>
          <p:cNvPr id="241" name="Google Shape;241;p8"/>
          <p:cNvSpPr/>
          <p:nvPr/>
        </p:nvSpPr>
        <p:spPr>
          <a:xfrm>
            <a:off x="1393996" y="1994413"/>
            <a:ext cx="9924000" cy="3931800"/>
          </a:xfrm>
          <a:prstGeom prst="rect">
            <a:avLst/>
          </a:prstGeom>
          <a:noFill/>
          <a:ln>
            <a:noFill/>
          </a:ln>
        </p:spPr>
        <p:txBody>
          <a:bodyPr anchorCtr="0" anchor="t" bIns="45700" lIns="91425" spcFirstLastPara="1" rIns="91425" wrap="square" tIns="45700">
            <a:noAutofit/>
          </a:bodyPr>
          <a:lstStyle/>
          <a:p>
            <a:pPr indent="-327025" lvl="0" marL="457200" rtl="0" algn="l">
              <a:spcBef>
                <a:spcPts val="0"/>
              </a:spcBef>
              <a:spcAft>
                <a:spcPts val="0"/>
              </a:spcAft>
              <a:buClr>
                <a:srgbClr val="666B74"/>
              </a:buClr>
              <a:buSzPts val="1550"/>
              <a:buFont typeface="Calibri"/>
              <a:buChar char="•"/>
            </a:pPr>
            <a:r>
              <a:rPr b="1" lang="en-US">
                <a:solidFill>
                  <a:schemeClr val="dk1"/>
                </a:solidFill>
              </a:rPr>
              <a:t>ASVspoof Initiative</a:t>
            </a:r>
            <a:r>
              <a:rPr lang="en-US">
                <a:solidFill>
                  <a:schemeClr val="dk1"/>
                </a:solidFill>
              </a:rPr>
              <a:t>, </a:t>
            </a:r>
            <a:r>
              <a:rPr i="1" lang="en-US">
                <a:solidFill>
                  <a:schemeClr val="dk1"/>
                </a:solidFill>
              </a:rPr>
              <a:t>ASVspoof 2021: Speech Deepfake and Spoofing Detection</a:t>
            </a:r>
            <a:r>
              <a:rPr lang="en-US">
                <a:solidFill>
                  <a:schemeClr val="dk1"/>
                </a:solidFill>
              </a:rPr>
              <a:t>, 2021.</a:t>
            </a:r>
            <a:br>
              <a:rPr lang="en-US">
                <a:solidFill>
                  <a:schemeClr val="dk1"/>
                </a:solidFill>
              </a:rPr>
            </a:br>
            <a:r>
              <a:rPr lang="en-US">
                <a:solidFill>
                  <a:schemeClr val="dk1"/>
                </a:solidFill>
                <a:uFill>
                  <a:noFill/>
                </a:uFill>
                <a:hlinkClick r:id="rId4">
                  <a:extLst>
                    <a:ext uri="{A12FA001-AC4F-418D-AE19-62706E023703}">
                      <ahyp:hlinkClr val="tx"/>
                    </a:ext>
                  </a:extLst>
                </a:hlinkClick>
              </a:rPr>
              <a:t> </a:t>
            </a:r>
            <a:r>
              <a:rPr lang="en-US" u="sng">
                <a:solidFill>
                  <a:schemeClr val="hlink"/>
                </a:solidFill>
                <a:hlinkClick r:id="rId5"/>
              </a:rPr>
              <a:t>https://www.asvspoof.org/index2021.html</a:t>
            </a:r>
            <a:endParaRPr u="sng">
              <a:solidFill>
                <a:schemeClr val="hlink"/>
              </a:solidFill>
            </a:endParaRPr>
          </a:p>
          <a:p>
            <a:pPr indent="-327025" lvl="0" marL="457200" rtl="0" algn="l">
              <a:spcBef>
                <a:spcPts val="0"/>
              </a:spcBef>
              <a:spcAft>
                <a:spcPts val="0"/>
              </a:spcAft>
              <a:buClr>
                <a:srgbClr val="666B74"/>
              </a:buClr>
              <a:buSzPts val="1550"/>
              <a:buFont typeface="Calibri"/>
              <a:buChar char="•"/>
            </a:pPr>
            <a:r>
              <a:rPr b="1" lang="en-US">
                <a:solidFill>
                  <a:schemeClr val="dk1"/>
                </a:solidFill>
              </a:rPr>
              <a:t>Jung, J.-W. et al.</a:t>
            </a:r>
            <a:r>
              <a:rPr lang="en-US">
                <a:solidFill>
                  <a:schemeClr val="dk1"/>
                </a:solidFill>
              </a:rPr>
              <a:t>, </a:t>
            </a:r>
            <a:r>
              <a:rPr i="1" lang="en-US">
                <a:solidFill>
                  <a:schemeClr val="dk1"/>
                </a:solidFill>
              </a:rPr>
              <a:t>AASIST: Audio Anti-Spoofing using Integrated Spectro-Temporal Graph Attention Networks</a:t>
            </a:r>
            <a:r>
              <a:rPr lang="en-US">
                <a:solidFill>
                  <a:schemeClr val="dk1"/>
                </a:solidFill>
              </a:rPr>
              <a:t>, 2021.</a:t>
            </a:r>
            <a:br>
              <a:rPr lang="en-US">
                <a:solidFill>
                  <a:schemeClr val="dk1"/>
                </a:solidFill>
              </a:rPr>
            </a:br>
            <a:r>
              <a:rPr lang="en-US">
                <a:solidFill>
                  <a:schemeClr val="dk1"/>
                </a:solidFill>
                <a:uFill>
                  <a:noFill/>
                </a:uFill>
                <a:hlinkClick r:id="rId6">
                  <a:extLst>
                    <a:ext uri="{A12FA001-AC4F-418D-AE19-62706E023703}">
                      <ahyp:hlinkClr val="tx"/>
                    </a:ext>
                  </a:extLst>
                </a:hlinkClick>
              </a:rPr>
              <a:t> </a:t>
            </a:r>
            <a:r>
              <a:rPr lang="en-US" u="sng">
                <a:solidFill>
                  <a:schemeClr val="hlink"/>
                </a:solidFill>
                <a:hlinkClick r:id="rId7"/>
              </a:rPr>
              <a:t>https://arxiv.org/abs/2110.01200</a:t>
            </a:r>
            <a:endParaRPr u="sng">
              <a:solidFill>
                <a:schemeClr val="hlink"/>
              </a:solidFill>
            </a:endParaRPr>
          </a:p>
          <a:p>
            <a:pPr indent="-327025" lvl="0" marL="457200" rtl="0" algn="l">
              <a:spcBef>
                <a:spcPts val="0"/>
              </a:spcBef>
              <a:spcAft>
                <a:spcPts val="0"/>
              </a:spcAft>
              <a:buClr>
                <a:srgbClr val="666B74"/>
              </a:buClr>
              <a:buSzPts val="1550"/>
              <a:buFont typeface="Calibri"/>
              <a:buChar char="•"/>
            </a:pPr>
            <a:r>
              <a:rPr b="1" lang="en-US">
                <a:solidFill>
                  <a:schemeClr val="dk1"/>
                </a:solidFill>
              </a:rPr>
              <a:t>Desplanques, B., Thienpondt, J., Demuynck, K.</a:t>
            </a:r>
            <a:r>
              <a:rPr lang="en-US">
                <a:solidFill>
                  <a:schemeClr val="dk1"/>
                </a:solidFill>
              </a:rPr>
              <a:t>, </a:t>
            </a:r>
            <a:r>
              <a:rPr i="1" lang="en-US">
                <a:solidFill>
                  <a:schemeClr val="dk1"/>
                </a:solidFill>
              </a:rPr>
              <a:t>ECAPA-TDNN: Emphasized Channel Attention, Propagation and Aggregation in TDNN Based Speaker Verification</a:t>
            </a:r>
            <a:r>
              <a:rPr lang="en-US">
                <a:solidFill>
                  <a:schemeClr val="dk1"/>
                </a:solidFill>
              </a:rPr>
              <a:t>, Interspeech, 2020.</a:t>
            </a:r>
            <a:br>
              <a:rPr lang="en-US">
                <a:solidFill>
                  <a:schemeClr val="dk1"/>
                </a:solidFill>
              </a:rPr>
            </a:br>
            <a:r>
              <a:rPr lang="en-US">
                <a:solidFill>
                  <a:schemeClr val="dk1"/>
                </a:solidFill>
                <a:uFill>
                  <a:noFill/>
                </a:uFill>
                <a:hlinkClick r:id="rId8">
                  <a:extLst>
                    <a:ext uri="{A12FA001-AC4F-418D-AE19-62706E023703}">
                      <ahyp:hlinkClr val="tx"/>
                    </a:ext>
                  </a:extLst>
                </a:hlinkClick>
              </a:rPr>
              <a:t> </a:t>
            </a:r>
            <a:r>
              <a:rPr lang="en-US" u="sng">
                <a:solidFill>
                  <a:schemeClr val="hlink"/>
                </a:solidFill>
                <a:hlinkClick r:id="rId9"/>
              </a:rPr>
              <a:t>https://www.isca-archive.org/interspeech_2020/desplanques20_interspeech.html</a:t>
            </a:r>
            <a:endParaRPr u="sng">
              <a:solidFill>
                <a:schemeClr val="hlink"/>
              </a:solidFill>
            </a:endParaRPr>
          </a:p>
          <a:p>
            <a:pPr indent="-327025" lvl="0" marL="457200" rtl="0" algn="l">
              <a:spcBef>
                <a:spcPts val="0"/>
              </a:spcBef>
              <a:spcAft>
                <a:spcPts val="0"/>
              </a:spcAft>
              <a:buClr>
                <a:srgbClr val="666B74"/>
              </a:buClr>
              <a:buSzPts val="1550"/>
              <a:buFont typeface="Calibri"/>
              <a:buChar char="•"/>
            </a:pPr>
            <a:r>
              <a:rPr b="1" lang="en-US">
                <a:solidFill>
                  <a:schemeClr val="dk1"/>
                </a:solidFill>
              </a:rPr>
              <a:t>Baevski, A. et al.</a:t>
            </a:r>
            <a:r>
              <a:rPr lang="en-US">
                <a:solidFill>
                  <a:schemeClr val="dk1"/>
                </a:solidFill>
              </a:rPr>
              <a:t>, </a:t>
            </a:r>
            <a:r>
              <a:rPr i="1" lang="en-US">
                <a:solidFill>
                  <a:schemeClr val="dk1"/>
                </a:solidFill>
              </a:rPr>
              <a:t>wav2vec 2.0: A Framework for Self-Supervised Learning of Speech Representations</a:t>
            </a:r>
            <a:r>
              <a:rPr lang="en-US">
                <a:solidFill>
                  <a:schemeClr val="dk1"/>
                </a:solidFill>
              </a:rPr>
              <a:t>, 2020.</a:t>
            </a:r>
            <a:br>
              <a:rPr lang="en-US">
                <a:solidFill>
                  <a:schemeClr val="dk1"/>
                </a:solidFill>
              </a:rPr>
            </a:br>
            <a:r>
              <a:rPr lang="en-US">
                <a:solidFill>
                  <a:schemeClr val="dk1"/>
                </a:solidFill>
                <a:uFill>
                  <a:noFill/>
                </a:uFill>
                <a:hlinkClick r:id="rId10">
                  <a:extLst>
                    <a:ext uri="{A12FA001-AC4F-418D-AE19-62706E023703}">
                      <ahyp:hlinkClr val="tx"/>
                    </a:ext>
                  </a:extLst>
                </a:hlinkClick>
              </a:rPr>
              <a:t> </a:t>
            </a:r>
            <a:r>
              <a:rPr lang="en-US" u="sng">
                <a:solidFill>
                  <a:schemeClr val="hlink"/>
                </a:solidFill>
                <a:hlinkClick r:id="rId11"/>
              </a:rPr>
              <a:t>https://arxiv.org/abs/2006.11477</a:t>
            </a:r>
            <a:endParaRPr u="sng">
              <a:solidFill>
                <a:schemeClr val="hlink"/>
              </a:solidFill>
            </a:endParaRPr>
          </a:p>
          <a:p>
            <a:pPr indent="-327025" lvl="0" marL="457200" rtl="0" algn="l">
              <a:spcBef>
                <a:spcPts val="0"/>
              </a:spcBef>
              <a:spcAft>
                <a:spcPts val="0"/>
              </a:spcAft>
              <a:buClr>
                <a:srgbClr val="666B74"/>
              </a:buClr>
              <a:buSzPts val="1550"/>
              <a:buFont typeface="Calibri"/>
              <a:buChar char="•"/>
            </a:pPr>
            <a:r>
              <a:rPr b="1" lang="en-US">
                <a:solidFill>
                  <a:schemeClr val="dk1"/>
                </a:solidFill>
              </a:rPr>
              <a:t>Hsu, W.-N. et al.</a:t>
            </a:r>
            <a:r>
              <a:rPr lang="en-US">
                <a:solidFill>
                  <a:schemeClr val="dk1"/>
                </a:solidFill>
              </a:rPr>
              <a:t>, </a:t>
            </a:r>
            <a:r>
              <a:rPr i="1" lang="en-US">
                <a:solidFill>
                  <a:schemeClr val="dk1"/>
                </a:solidFill>
              </a:rPr>
              <a:t>HuBERT: Self-Supervised Speech Representation Learning by Masked Prediction of Hidden Units</a:t>
            </a:r>
            <a:r>
              <a:rPr lang="en-US">
                <a:solidFill>
                  <a:schemeClr val="dk1"/>
                </a:solidFill>
              </a:rPr>
              <a:t>, 2021.</a:t>
            </a:r>
            <a:br>
              <a:rPr lang="en-US">
                <a:solidFill>
                  <a:schemeClr val="dk1"/>
                </a:solidFill>
              </a:rPr>
            </a:br>
            <a:r>
              <a:rPr lang="en-US">
                <a:solidFill>
                  <a:schemeClr val="dk1"/>
                </a:solidFill>
                <a:uFill>
                  <a:noFill/>
                </a:uFill>
                <a:hlinkClick r:id="rId12">
                  <a:extLst>
                    <a:ext uri="{A12FA001-AC4F-418D-AE19-62706E023703}">
                      <ahyp:hlinkClr val="tx"/>
                    </a:ext>
                  </a:extLst>
                </a:hlinkClick>
              </a:rPr>
              <a:t> </a:t>
            </a:r>
            <a:r>
              <a:rPr lang="en-US" u="sng">
                <a:solidFill>
                  <a:schemeClr val="hlink"/>
                </a:solidFill>
                <a:hlinkClick r:id="rId13"/>
              </a:rPr>
              <a:t>https://arxiv.org/abs/2106.07447</a:t>
            </a:r>
            <a:endParaRPr u="sng">
              <a:solidFill>
                <a:schemeClr val="hlink"/>
              </a:solidFill>
            </a:endParaRPr>
          </a:p>
          <a:p>
            <a:pPr indent="-327025" lvl="0" marL="457200" rtl="0" algn="l">
              <a:spcBef>
                <a:spcPts val="0"/>
              </a:spcBef>
              <a:spcAft>
                <a:spcPts val="0"/>
              </a:spcAft>
              <a:buClr>
                <a:srgbClr val="666B74"/>
              </a:buClr>
              <a:buSzPts val="1550"/>
              <a:buFont typeface="Calibri"/>
              <a:buChar char="•"/>
            </a:pPr>
            <a:r>
              <a:rPr b="1" lang="en-US">
                <a:solidFill>
                  <a:schemeClr val="dk1"/>
                </a:solidFill>
              </a:rPr>
              <a:t>Federal Trade Commission (FTC)</a:t>
            </a:r>
            <a:r>
              <a:rPr lang="en-US">
                <a:solidFill>
                  <a:schemeClr val="dk1"/>
                </a:solidFill>
              </a:rPr>
              <a:t>, </a:t>
            </a:r>
            <a:r>
              <a:rPr i="1" lang="en-US">
                <a:solidFill>
                  <a:schemeClr val="dk1"/>
                </a:solidFill>
              </a:rPr>
              <a:t>Scammers Use AI to Enhance Their Family Emergency Schemes</a:t>
            </a:r>
            <a:r>
              <a:rPr lang="en-US">
                <a:solidFill>
                  <a:schemeClr val="dk1"/>
                </a:solidFill>
              </a:rPr>
              <a:t>, 2023.</a:t>
            </a:r>
            <a:br>
              <a:rPr lang="en-US">
                <a:solidFill>
                  <a:schemeClr val="dk1"/>
                </a:solidFill>
              </a:rPr>
            </a:br>
            <a:r>
              <a:rPr lang="en-US">
                <a:solidFill>
                  <a:schemeClr val="dk1"/>
                </a:solidFill>
                <a:uFill>
                  <a:noFill/>
                </a:uFill>
                <a:hlinkClick r:id="rId14">
                  <a:extLst>
                    <a:ext uri="{A12FA001-AC4F-418D-AE19-62706E023703}">
                      <ahyp:hlinkClr val="tx"/>
                    </a:ext>
                  </a:extLst>
                </a:hlinkClick>
              </a:rPr>
              <a:t> </a:t>
            </a:r>
            <a:r>
              <a:rPr lang="en-US" u="sng">
                <a:solidFill>
                  <a:schemeClr val="hlink"/>
                </a:solidFill>
                <a:hlinkClick r:id="rId15"/>
              </a:rPr>
              <a:t>https://consumer.ftc.gov/consumer-alerts/2023/03/scammers-use-ai-enhance-their-family-emergency-schemes</a:t>
            </a:r>
            <a:endParaRPr u="sng">
              <a:solidFill>
                <a:schemeClr val="hlink"/>
              </a:solidFill>
            </a:endParaRPr>
          </a:p>
          <a:p>
            <a:pPr indent="-327025" lvl="0" marL="457200" rtl="0" algn="l">
              <a:spcBef>
                <a:spcPts val="0"/>
              </a:spcBef>
              <a:spcAft>
                <a:spcPts val="0"/>
              </a:spcAft>
              <a:buClr>
                <a:srgbClr val="666B74"/>
              </a:buClr>
              <a:buSzPts val="1550"/>
              <a:buFont typeface="Calibri"/>
              <a:buChar char="•"/>
            </a:pPr>
            <a:r>
              <a:rPr b="1" lang="en-US">
                <a:solidFill>
                  <a:schemeClr val="dk1"/>
                </a:solidFill>
              </a:rPr>
              <a:t>Federal Trade Commission (FTC)</a:t>
            </a:r>
            <a:r>
              <a:rPr lang="en-US">
                <a:solidFill>
                  <a:schemeClr val="dk1"/>
                </a:solidFill>
              </a:rPr>
              <a:t>, </a:t>
            </a:r>
            <a:r>
              <a:rPr i="1" lang="en-US">
                <a:solidFill>
                  <a:schemeClr val="dk1"/>
                </a:solidFill>
              </a:rPr>
              <a:t>Fighting Back Against Harmful Voice Cloning</a:t>
            </a:r>
            <a:r>
              <a:rPr lang="en-US">
                <a:solidFill>
                  <a:schemeClr val="dk1"/>
                </a:solidFill>
              </a:rPr>
              <a:t>, 2024.</a:t>
            </a:r>
            <a:br>
              <a:rPr lang="en-US">
                <a:solidFill>
                  <a:schemeClr val="dk1"/>
                </a:solidFill>
              </a:rPr>
            </a:br>
            <a:r>
              <a:rPr lang="en-US">
                <a:solidFill>
                  <a:schemeClr val="dk1"/>
                </a:solidFill>
                <a:uFill>
                  <a:noFill/>
                </a:uFill>
                <a:hlinkClick r:id="rId16">
                  <a:extLst>
                    <a:ext uri="{A12FA001-AC4F-418D-AE19-62706E023703}">
                      <ahyp:hlinkClr val="tx"/>
                    </a:ext>
                  </a:extLst>
                </a:hlinkClick>
              </a:rPr>
              <a:t> </a:t>
            </a:r>
            <a:r>
              <a:rPr lang="en-US" u="sng">
                <a:solidFill>
                  <a:schemeClr val="hlink"/>
                </a:solidFill>
                <a:hlinkClick r:id="rId17"/>
              </a:rPr>
              <a:t>https://consumer.ftc.gov/consumer-alerts/2024/04/fighting-back-against-harmful-voice-cloning</a:t>
            </a:r>
            <a:endParaRPr u="sng">
              <a:solidFill>
                <a:schemeClr val="hlink"/>
              </a:solidFill>
            </a:endParaRPr>
          </a:p>
          <a:p>
            <a:pPr indent="-327025" lvl="0" marL="457200" rtl="0" algn="l">
              <a:spcBef>
                <a:spcPts val="0"/>
              </a:spcBef>
              <a:spcAft>
                <a:spcPts val="0"/>
              </a:spcAft>
              <a:buClr>
                <a:srgbClr val="666B74"/>
              </a:buClr>
              <a:buSzPts val="1550"/>
              <a:buFont typeface="Calibri"/>
              <a:buChar char="•"/>
            </a:pPr>
            <a:r>
              <a:rPr b="1" lang="en-US">
                <a:solidFill>
                  <a:schemeClr val="dk1"/>
                </a:solidFill>
              </a:rPr>
              <a:t>CERT-In</a:t>
            </a:r>
            <a:r>
              <a:rPr lang="en-US">
                <a:solidFill>
                  <a:schemeClr val="dk1"/>
                </a:solidFill>
              </a:rPr>
              <a:t>, </a:t>
            </a:r>
            <a:r>
              <a:rPr i="1" lang="en-US">
                <a:solidFill>
                  <a:schemeClr val="dk1"/>
                </a:solidFill>
              </a:rPr>
              <a:t>Cyber Security Advisory — AI-generated Deepfakes and Impersonation</a:t>
            </a:r>
            <a:r>
              <a:rPr lang="en-US">
                <a:solidFill>
                  <a:schemeClr val="dk1"/>
                </a:solidFill>
              </a:rPr>
              <a:t>, 2026.</a:t>
            </a:r>
            <a:br>
              <a:rPr lang="en-US">
                <a:solidFill>
                  <a:schemeClr val="dk1"/>
                </a:solidFill>
              </a:rPr>
            </a:br>
            <a:r>
              <a:rPr lang="en-US">
                <a:solidFill>
                  <a:schemeClr val="dk1"/>
                </a:solidFill>
                <a:uFill>
                  <a:noFill/>
                </a:uFill>
                <a:hlinkClick r:id="rId18">
                  <a:extLst>
                    <a:ext uri="{A12FA001-AC4F-418D-AE19-62706E023703}">
                      <ahyp:hlinkClr val="tx"/>
                    </a:ext>
                  </a:extLst>
                </a:hlinkClick>
              </a:rPr>
              <a:t> </a:t>
            </a:r>
            <a:r>
              <a:rPr lang="en-US" u="sng">
                <a:solidFill>
                  <a:schemeClr val="hlink"/>
                </a:solidFill>
                <a:hlinkClick r:id="rId19"/>
              </a:rPr>
              <a:t>https://www.cert-in.org.in/</a:t>
            </a:r>
            <a:endParaRPr b="0" i="0" sz="1550" u="none" cap="none" strike="noStrike">
              <a:solidFill>
                <a:schemeClr val="dk1"/>
              </a:solidFill>
              <a:latin typeface="Calibri"/>
              <a:ea typeface="Calibri"/>
              <a:cs typeface="Calibri"/>
              <a:sym typeface="Calibri"/>
            </a:endParaRPr>
          </a:p>
        </p:txBody>
      </p:sp>
      <p:sp>
        <p:nvSpPr>
          <p:cNvPr id="242" name="Google Shape;242;p8"/>
          <p:cNvSpPr/>
          <p:nvPr/>
        </p:nvSpPr>
        <p:spPr>
          <a:xfrm>
            <a:off x="548640" y="6519672"/>
            <a:ext cx="8686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81F19"/>
              </a:buClr>
              <a:buSzPts val="900"/>
              <a:buFont typeface="Calibri"/>
              <a:buNone/>
            </a:pPr>
            <a:r>
              <a:rPr b="1" i="0" lang="en-US" sz="900" u="none" cap="none" strike="noStrike">
                <a:solidFill>
                  <a:srgbClr val="781F19"/>
                </a:solidFill>
                <a:latin typeface="Calibri"/>
                <a:ea typeface="Calibri"/>
                <a:cs typeface="Calibri"/>
                <a:sym typeface="Calibri"/>
              </a:rPr>
              <a:t>IITM BS Degree Programme</a:t>
            </a:r>
            <a:r>
              <a:rPr b="0" i="0" lang="en-US" sz="900" u="none" cap="none" strike="noStrike">
                <a:solidFill>
                  <a:srgbClr val="666B74"/>
                </a:solidFill>
                <a:latin typeface="Calibri"/>
                <a:ea typeface="Calibri"/>
                <a:cs typeface="Calibri"/>
                <a:sym typeface="Calibri"/>
              </a:rPr>
              <a:t>   ·   SIH Internal Hackathon, Presentation </a:t>
            </a:r>
            <a:endParaRPr b="0" i="0" sz="900" u="none" cap="none" strike="noStrike">
              <a:solidFill>
                <a:schemeClr val="dk1"/>
              </a:solidFill>
              <a:latin typeface="Calibri"/>
              <a:ea typeface="Calibri"/>
              <a:cs typeface="Calibri"/>
              <a:sym typeface="Calibri"/>
            </a:endParaRPr>
          </a:p>
        </p:txBody>
      </p:sp>
      <p:sp>
        <p:nvSpPr>
          <p:cNvPr id="243" name="Google Shape;243;p8"/>
          <p:cNvSpPr/>
          <p:nvPr/>
        </p:nvSpPr>
        <p:spPr>
          <a:xfrm>
            <a:off x="8897112" y="6519672"/>
            <a:ext cx="274320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66B74"/>
              </a:buClr>
              <a:buSzPts val="900"/>
              <a:buFont typeface="Calibri"/>
              <a:buNone/>
            </a:pPr>
            <a:r>
              <a:rPr b="0" i="0" lang="en-US" sz="900" u="none" cap="none" strike="noStrike">
                <a:solidFill>
                  <a:srgbClr val="666B74"/>
                </a:solidFill>
                <a:latin typeface="Calibri"/>
                <a:ea typeface="Calibri"/>
                <a:cs typeface="Calibri"/>
                <a:sym typeface="Calibri"/>
              </a:rPr>
              <a:t>Section 07 of 08</a:t>
            </a:r>
            <a:endParaRPr b="0" i="0" sz="900" u="none" cap="none" strike="noStrike">
              <a:solidFill>
                <a:schemeClr val="dk1"/>
              </a:solidFill>
              <a:latin typeface="Calibri"/>
              <a:ea typeface="Calibri"/>
              <a:cs typeface="Calibri"/>
              <a:sym typeface="Calibri"/>
            </a:endParaRPr>
          </a:p>
        </p:txBody>
      </p:sp>
      <p:cxnSp>
        <p:nvCxnSpPr>
          <p:cNvPr id="244" name="Google Shape;244;p8"/>
          <p:cNvCxnSpPr/>
          <p:nvPr/>
        </p:nvCxnSpPr>
        <p:spPr>
          <a:xfrm>
            <a:off x="548640" y="6473952"/>
            <a:ext cx="11091672" cy="0"/>
          </a:xfrm>
          <a:prstGeom prst="straightConnector1">
            <a:avLst/>
          </a:prstGeom>
          <a:noFill/>
          <a:ln cap="flat" cmpd="sng" w="12700">
            <a:solidFill>
              <a:srgbClr val="E7E9F0"/>
            </a:solidFill>
            <a:prstDash val="solid"/>
            <a:round/>
            <a:headEnd len="sm" w="sm" type="none"/>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9" name="Shape 249"/>
        <p:cNvGrpSpPr/>
        <p:nvPr/>
      </p:nvGrpSpPr>
      <p:grpSpPr>
        <a:xfrm>
          <a:off x="0" y="0"/>
          <a:ext cx="0" cy="0"/>
          <a:chOff x="0" y="0"/>
          <a:chExt cx="0" cy="0"/>
        </a:xfrm>
      </p:grpSpPr>
      <p:sp>
        <p:nvSpPr>
          <p:cNvPr id="250" name="Google Shape;250;p9"/>
          <p:cNvSpPr/>
          <p:nvPr/>
        </p:nvSpPr>
        <p:spPr>
          <a:xfrm>
            <a:off x="548640" y="420624"/>
            <a:ext cx="365760" cy="365760"/>
          </a:xfrm>
          <a:prstGeom prst="ellipse">
            <a:avLst/>
          </a:prstGeom>
          <a:solidFill>
            <a:srgbClr val="781F19"/>
          </a:solidFill>
          <a:ln cap="flat" cmpd="sng" w="15875">
            <a:solidFill>
              <a:srgbClr val="D6A64F"/>
            </a:solidFill>
            <a:prstDash val="solid"/>
            <a:round/>
            <a:headEnd len="sm" w="sm" type="none"/>
            <a:tailEnd len="sm" w="sm" type="none"/>
          </a:ln>
          <a:effectLst>
            <a:outerShdw blurRad="76200" rotWithShape="0" algn="bl" dir="5400000" dist="19050">
              <a:srgbClr val="1B1F3B">
                <a:alpha val="1803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9"/>
          <p:cNvSpPr/>
          <p:nvPr/>
        </p:nvSpPr>
        <p:spPr>
          <a:xfrm>
            <a:off x="548640" y="420624"/>
            <a:ext cx="365760" cy="36576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8</a:t>
            </a:r>
            <a:endParaRPr b="0" i="0" sz="1500" u="none" cap="none" strike="noStrike">
              <a:solidFill>
                <a:schemeClr val="dk1"/>
              </a:solidFill>
              <a:latin typeface="Calibri"/>
              <a:ea typeface="Calibri"/>
              <a:cs typeface="Calibri"/>
              <a:sym typeface="Calibri"/>
            </a:endParaRPr>
          </a:p>
        </p:txBody>
      </p:sp>
      <p:sp>
        <p:nvSpPr>
          <p:cNvPr id="252" name="Google Shape;252;p9"/>
          <p:cNvSpPr/>
          <p:nvPr/>
        </p:nvSpPr>
        <p:spPr>
          <a:xfrm>
            <a:off x="1051560" y="402336"/>
            <a:ext cx="5486400" cy="237744"/>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81F19"/>
              </a:buClr>
              <a:buSzPts val="1250"/>
              <a:buFont typeface="Calibri"/>
              <a:buNone/>
            </a:pPr>
            <a:r>
              <a:rPr b="1" i="0" lang="en-US" sz="1250" u="none" cap="none" strike="noStrike">
                <a:solidFill>
                  <a:srgbClr val="781F19"/>
                </a:solidFill>
                <a:latin typeface="Calibri"/>
                <a:ea typeface="Calibri"/>
                <a:cs typeface="Calibri"/>
                <a:sym typeface="Calibri"/>
              </a:rPr>
              <a:t>SECTION 08</a:t>
            </a:r>
            <a:endParaRPr b="0" i="0" sz="1250" u="none" cap="none" strike="noStrike">
              <a:solidFill>
                <a:schemeClr val="dk1"/>
              </a:solidFill>
              <a:latin typeface="Calibri"/>
              <a:ea typeface="Calibri"/>
              <a:cs typeface="Calibri"/>
              <a:sym typeface="Calibri"/>
            </a:endParaRPr>
          </a:p>
        </p:txBody>
      </p:sp>
      <p:sp>
        <p:nvSpPr>
          <p:cNvPr id="253" name="Google Shape;253;p9"/>
          <p:cNvSpPr/>
          <p:nvPr/>
        </p:nvSpPr>
        <p:spPr>
          <a:xfrm>
            <a:off x="1051560" y="621792"/>
            <a:ext cx="9509760"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761"/>
              </a:buClr>
              <a:buSzPts val="2800"/>
              <a:buFont typeface="Cambria"/>
              <a:buNone/>
            </a:pPr>
            <a:r>
              <a:rPr b="1" i="0" lang="en-US" sz="2800" u="none" cap="none" strike="noStrike">
                <a:solidFill>
                  <a:srgbClr val="1E2761"/>
                </a:solidFill>
                <a:latin typeface="Cambria"/>
                <a:ea typeface="Cambria"/>
                <a:cs typeface="Cambria"/>
                <a:sym typeface="Cambria"/>
              </a:rPr>
              <a:t>Solution Summary</a:t>
            </a:r>
            <a:endParaRPr b="0" i="0" sz="2800" u="none" cap="none" strike="noStrike">
              <a:solidFill>
                <a:schemeClr val="dk1"/>
              </a:solidFill>
              <a:latin typeface="Calibri"/>
              <a:ea typeface="Calibri"/>
              <a:cs typeface="Calibri"/>
              <a:sym typeface="Calibri"/>
            </a:endParaRPr>
          </a:p>
        </p:txBody>
      </p:sp>
      <p:sp>
        <p:nvSpPr>
          <p:cNvPr id="254" name="Google Shape;254;p9"/>
          <p:cNvSpPr/>
          <p:nvPr/>
        </p:nvSpPr>
        <p:spPr>
          <a:xfrm>
            <a:off x="10981944" y="292608"/>
            <a:ext cx="658368" cy="658368"/>
          </a:xfrm>
          <a:prstGeom prst="ellipse">
            <a:avLst/>
          </a:prstGeom>
          <a:solidFill>
            <a:srgbClr val="FFFFFF"/>
          </a:solidFill>
          <a:ln cap="flat" cmpd="sng" w="19050">
            <a:solidFill>
              <a:srgbClr val="D6A64F"/>
            </a:solidFill>
            <a:prstDash val="solid"/>
            <a:round/>
            <a:headEnd len="sm" w="sm" type="none"/>
            <a:tailEnd len="sm" w="sm" type="none"/>
          </a:ln>
          <a:effectLst>
            <a:outerShdw blurRad="127000" rotWithShape="0" algn="bl" dir="5400000" dist="38100">
              <a:srgbClr val="1B1F3B">
                <a:alpha val="21961"/>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home/claude/work/iitm_bs_logo.png" id="255" name="Google Shape;255;p9"/>
          <p:cNvPicPr preferRelativeResize="0"/>
          <p:nvPr/>
        </p:nvPicPr>
        <p:blipFill rotWithShape="1">
          <a:blip r:embed="rId3">
            <a:alphaModFix/>
          </a:blip>
          <a:srcRect b="0" l="0" r="0" t="0"/>
          <a:stretch/>
        </p:blipFill>
        <p:spPr>
          <a:xfrm>
            <a:off x="11064240" y="374904"/>
            <a:ext cx="493776" cy="493776"/>
          </a:xfrm>
          <a:prstGeom prst="rect">
            <a:avLst/>
          </a:prstGeom>
          <a:noFill/>
          <a:ln>
            <a:noFill/>
          </a:ln>
        </p:spPr>
      </p:pic>
      <p:sp>
        <p:nvSpPr>
          <p:cNvPr id="256" name="Google Shape;256;p9"/>
          <p:cNvSpPr/>
          <p:nvPr/>
        </p:nvSpPr>
        <p:spPr>
          <a:xfrm>
            <a:off x="548640" y="1417320"/>
            <a:ext cx="5029200" cy="4800600"/>
          </a:xfrm>
          <a:prstGeom prst="roundRect">
            <a:avLst>
              <a:gd fmla="val 1714" name="adj"/>
            </a:avLst>
          </a:prstGeom>
          <a:solidFill>
            <a:srgbClr val="FBF7EA"/>
          </a:solidFill>
          <a:ln cap="flat" cmpd="sng" w="12700">
            <a:solidFill>
              <a:srgbClr val="E9DFC0"/>
            </a:solidFill>
            <a:prstDash val="solid"/>
            <a:round/>
            <a:headEnd len="sm" w="sm" type="none"/>
            <a:tailEnd len="sm" w="sm" type="none"/>
          </a:ln>
          <a:effectLst>
            <a:outerShdw blurRad="101600" rotWithShape="0" algn="bl" dir="5400000" dist="25400">
              <a:srgbClr val="1B1F3B">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9"/>
          <p:cNvSpPr/>
          <p:nvPr/>
        </p:nvSpPr>
        <p:spPr>
          <a:xfrm>
            <a:off x="768096" y="1618488"/>
            <a:ext cx="329184" cy="329184"/>
          </a:xfrm>
          <a:prstGeom prst="ellipse">
            <a:avLst/>
          </a:prstGeom>
          <a:solidFill>
            <a:srgbClr val="D6A64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9"/>
          <p:cNvSpPr/>
          <p:nvPr/>
        </p:nvSpPr>
        <p:spPr>
          <a:xfrm>
            <a:off x="711200" y="2044700"/>
            <a:ext cx="4800600" cy="3990300"/>
          </a:xfrm>
          <a:prstGeom prst="rect">
            <a:avLst/>
          </a:prstGeom>
          <a:noFill/>
          <a:ln>
            <a:noFill/>
          </a:ln>
        </p:spPr>
        <p:txBody>
          <a:bodyPr anchorCtr="0" anchor="t" bIns="45700" lIns="91425" spcFirstLastPara="1" rIns="91425" wrap="square" tIns="45700">
            <a:noAutofit/>
          </a:bodyPr>
          <a:lstStyle/>
          <a:p>
            <a:pPr indent="0" lvl="0" marL="0" rtl="0" algn="l">
              <a:lnSpc>
                <a:spcPct val="136000"/>
              </a:lnSpc>
              <a:spcBef>
                <a:spcPts val="800"/>
              </a:spcBef>
              <a:spcAft>
                <a:spcPts val="0"/>
              </a:spcAft>
              <a:buClr>
                <a:schemeClr val="dk1"/>
              </a:buClr>
              <a:buSzPts val="1100"/>
              <a:buFont typeface="Arial"/>
              <a:buNone/>
            </a:pPr>
            <a:r>
              <a:rPr lang="en-US" sz="1200">
                <a:solidFill>
                  <a:schemeClr val="dk1"/>
                </a:solidFill>
              </a:rPr>
              <a:t>SENTRY is an AI-driven voice security system that offers real-time analysis of voice samples for signs of voice-cloning impersonation attacks. The system evaluates the speech coming in for synthetic voice characteristics, compares speaker identities with reference voices, and merges this data with behavior, context, and transactional data in order to arrive at the final risk score.</a:t>
            </a:r>
            <a:endParaRPr sz="1200">
              <a:solidFill>
                <a:schemeClr val="dk1"/>
              </a:solidFill>
            </a:endParaRPr>
          </a:p>
          <a:p>
            <a:pPr indent="0" lvl="0" marL="0" rtl="0" algn="l">
              <a:lnSpc>
                <a:spcPct val="136000"/>
              </a:lnSpc>
              <a:spcBef>
                <a:spcPts val="800"/>
              </a:spcBef>
              <a:spcAft>
                <a:spcPts val="0"/>
              </a:spcAft>
              <a:buClr>
                <a:schemeClr val="dk1"/>
              </a:buClr>
              <a:buSzPts val="1100"/>
              <a:buFont typeface="Arial"/>
              <a:buNone/>
            </a:pPr>
            <a:r>
              <a:rPr lang="en-US" sz="1200">
                <a:solidFill>
                  <a:schemeClr val="dk1"/>
                </a:solidFill>
              </a:rPr>
              <a:t>Unlike other solutions, which focus exclusively on detecting deepfakes, SENTRY takes the extra step of converting the process of detection into an action by raising alerts and prompting re-authentication.</a:t>
            </a:r>
            <a:endParaRPr sz="1200">
              <a:solidFill>
                <a:schemeClr val="dk1"/>
              </a:solidFill>
            </a:endParaRPr>
          </a:p>
          <a:p>
            <a:pPr indent="0" lvl="0" marL="0" rtl="0" algn="l">
              <a:lnSpc>
                <a:spcPct val="136000"/>
              </a:lnSpc>
              <a:spcBef>
                <a:spcPts val="800"/>
              </a:spcBef>
              <a:spcAft>
                <a:spcPts val="0"/>
              </a:spcAft>
              <a:buClr>
                <a:schemeClr val="dk1"/>
              </a:buClr>
              <a:buSzPts val="1100"/>
              <a:buFont typeface="Arial"/>
              <a:buNone/>
            </a:pPr>
            <a:r>
              <a:rPr lang="en-US" sz="1200">
                <a:solidFill>
                  <a:schemeClr val="dk1"/>
                </a:solidFill>
              </a:rPr>
              <a:t>SENTRY is built as a scalable trust layer that will work with banking systems, </a:t>
            </a:r>
            <a:r>
              <a:rPr lang="en-US" sz="1200">
                <a:solidFill>
                  <a:schemeClr val="dk1"/>
                </a:solidFill>
              </a:rPr>
              <a:t>fintechs</a:t>
            </a:r>
            <a:r>
              <a:rPr lang="en-US" sz="1200">
                <a:solidFill>
                  <a:schemeClr val="dk1"/>
                </a:solidFill>
              </a:rPr>
              <a:t>, telecommunications, enterprises, and other digital communications. The main purpose of the solution is to make decisions about user interactions and not just about whether their voice is authentic or not.</a:t>
            </a:r>
            <a:endParaRPr sz="1200">
              <a:solidFill>
                <a:schemeClr val="dk1"/>
              </a:solidFill>
            </a:endParaRPr>
          </a:p>
          <a:p>
            <a:pPr indent="0" lvl="0" marL="0" marR="0" rtl="0" algn="l">
              <a:lnSpc>
                <a:spcPct val="136000"/>
              </a:lnSpc>
              <a:spcBef>
                <a:spcPts val="800"/>
              </a:spcBef>
              <a:spcAft>
                <a:spcPts val="0"/>
              </a:spcAft>
              <a:buNone/>
            </a:pPr>
            <a:r>
              <a:t/>
            </a:r>
            <a:endParaRPr sz="1200">
              <a:solidFill>
                <a:schemeClr val="dk1"/>
              </a:solidFill>
            </a:endParaRPr>
          </a:p>
        </p:txBody>
      </p:sp>
      <p:sp>
        <p:nvSpPr>
          <p:cNvPr id="259" name="Google Shape;259;p9"/>
          <p:cNvSpPr/>
          <p:nvPr/>
        </p:nvSpPr>
        <p:spPr>
          <a:xfrm>
            <a:off x="6309360" y="1417320"/>
            <a:ext cx="5212080" cy="4800600"/>
          </a:xfrm>
          <a:prstGeom prst="roundRect">
            <a:avLst>
              <a:gd fmla="val 1714" name="adj"/>
            </a:avLst>
          </a:prstGeom>
          <a:solidFill>
            <a:srgbClr val="F5F6FA"/>
          </a:solidFill>
          <a:ln cap="flat" cmpd="sng" w="12700">
            <a:solidFill>
              <a:srgbClr val="E7E9F0"/>
            </a:solidFill>
            <a:prstDash val="solid"/>
            <a:round/>
            <a:headEnd len="sm" w="sm" type="none"/>
            <a:tailEnd len="sm" w="sm" type="none"/>
          </a:ln>
          <a:effectLst>
            <a:outerShdw blurRad="114300" rotWithShape="0" algn="bl" dir="5400000" dist="25400">
              <a:srgbClr val="1B1F3B">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9"/>
          <p:cNvSpPr/>
          <p:nvPr/>
        </p:nvSpPr>
        <p:spPr>
          <a:xfrm>
            <a:off x="6309360" y="1417320"/>
            <a:ext cx="5212080" cy="365760"/>
          </a:xfrm>
          <a:prstGeom prst="roundRect">
            <a:avLst>
              <a:gd fmla="val 22500" name="adj"/>
            </a:avLst>
          </a:prstGeom>
          <a:solidFill>
            <a:srgbClr val="1E27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9"/>
          <p:cNvSpPr/>
          <p:nvPr/>
        </p:nvSpPr>
        <p:spPr>
          <a:xfrm>
            <a:off x="6309360" y="1600200"/>
            <a:ext cx="5212080" cy="182880"/>
          </a:xfrm>
          <a:prstGeom prst="rect">
            <a:avLst/>
          </a:prstGeom>
          <a:solidFill>
            <a:srgbClr val="1E276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9"/>
          <p:cNvSpPr/>
          <p:nvPr/>
        </p:nvSpPr>
        <p:spPr>
          <a:xfrm>
            <a:off x="6528816" y="1417320"/>
            <a:ext cx="1828800"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Criterion</a:t>
            </a:r>
            <a:endParaRPr b="0" i="0" sz="1100" u="none" cap="none" strike="noStrike">
              <a:solidFill>
                <a:schemeClr val="dk1"/>
              </a:solidFill>
              <a:latin typeface="Calibri"/>
              <a:ea typeface="Calibri"/>
              <a:cs typeface="Calibri"/>
              <a:sym typeface="Calibri"/>
            </a:endParaRPr>
          </a:p>
        </p:txBody>
      </p:sp>
      <p:sp>
        <p:nvSpPr>
          <p:cNvPr id="263" name="Google Shape;263;p9"/>
          <p:cNvSpPr/>
          <p:nvPr/>
        </p:nvSpPr>
        <p:spPr>
          <a:xfrm>
            <a:off x="8357616" y="1417320"/>
            <a:ext cx="2944368" cy="36576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Summary</a:t>
            </a:r>
            <a:endParaRPr b="0" i="0" sz="1100" u="none" cap="none" strike="noStrike">
              <a:solidFill>
                <a:schemeClr val="dk1"/>
              </a:solidFill>
              <a:latin typeface="Calibri"/>
              <a:ea typeface="Calibri"/>
              <a:cs typeface="Calibri"/>
              <a:sym typeface="Calibri"/>
            </a:endParaRPr>
          </a:p>
        </p:txBody>
      </p:sp>
      <p:sp>
        <p:nvSpPr>
          <p:cNvPr id="264" name="Google Shape;264;p9"/>
          <p:cNvSpPr/>
          <p:nvPr/>
        </p:nvSpPr>
        <p:spPr>
          <a:xfrm>
            <a:off x="6528816" y="1783080"/>
            <a:ext cx="1828800" cy="8869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81F19"/>
              </a:buClr>
              <a:buSzPts val="1200"/>
              <a:buFont typeface="Calibri"/>
              <a:buNone/>
            </a:pPr>
            <a:r>
              <a:rPr b="1" i="0" lang="en-US" sz="1200" u="none" cap="none" strike="noStrike">
                <a:solidFill>
                  <a:srgbClr val="781F19"/>
                </a:solidFill>
                <a:latin typeface="Calibri"/>
                <a:ea typeface="Calibri"/>
                <a:cs typeface="Calibri"/>
                <a:sym typeface="Calibri"/>
              </a:rPr>
              <a:t>Problem</a:t>
            </a:r>
            <a:endParaRPr b="0" i="0" sz="1200" u="none" cap="none" strike="noStrike">
              <a:solidFill>
                <a:schemeClr val="dk1"/>
              </a:solidFill>
              <a:latin typeface="Calibri"/>
              <a:ea typeface="Calibri"/>
              <a:cs typeface="Calibri"/>
              <a:sym typeface="Calibri"/>
            </a:endParaRPr>
          </a:p>
        </p:txBody>
      </p:sp>
      <p:sp>
        <p:nvSpPr>
          <p:cNvPr id="265" name="Google Shape;265;p9"/>
          <p:cNvSpPr/>
          <p:nvPr/>
        </p:nvSpPr>
        <p:spPr>
          <a:xfrm>
            <a:off x="8357616" y="1783080"/>
            <a:ext cx="2944368" cy="8869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66B74"/>
              </a:buClr>
              <a:buSzPts val="1200"/>
              <a:buFont typeface="Calibri"/>
              <a:buNone/>
            </a:pPr>
            <a:r>
              <a:rPr b="1" i="1" lang="en-US" sz="1200">
                <a:solidFill>
                  <a:srgbClr val="666B74"/>
                </a:solidFill>
                <a:latin typeface="Calibri"/>
                <a:ea typeface="Calibri"/>
                <a:cs typeface="Calibri"/>
                <a:sym typeface="Calibri"/>
              </a:rPr>
              <a:t>Voice cloning can impersonate trusted individuals and enable fraud, social engineering, and unauthorized actions. </a:t>
            </a:r>
            <a:endParaRPr b="1" i="0" sz="1200" u="none" cap="none" strike="noStrike">
              <a:solidFill>
                <a:schemeClr val="dk1"/>
              </a:solidFill>
              <a:latin typeface="Calibri"/>
              <a:ea typeface="Calibri"/>
              <a:cs typeface="Calibri"/>
              <a:sym typeface="Calibri"/>
            </a:endParaRPr>
          </a:p>
        </p:txBody>
      </p:sp>
      <p:cxnSp>
        <p:nvCxnSpPr>
          <p:cNvPr id="266" name="Google Shape;266;p9"/>
          <p:cNvCxnSpPr/>
          <p:nvPr/>
        </p:nvCxnSpPr>
        <p:spPr>
          <a:xfrm>
            <a:off x="6309360" y="2670048"/>
            <a:ext cx="5212080" cy="0"/>
          </a:xfrm>
          <a:prstGeom prst="straightConnector1">
            <a:avLst/>
          </a:prstGeom>
          <a:noFill/>
          <a:ln cap="flat" cmpd="sng" w="12700">
            <a:solidFill>
              <a:srgbClr val="E7E9F0"/>
            </a:solidFill>
            <a:prstDash val="solid"/>
            <a:round/>
            <a:headEnd len="sm" w="sm" type="none"/>
            <a:tailEnd len="sm" w="sm" type="none"/>
          </a:ln>
        </p:spPr>
      </p:cxnSp>
      <p:sp>
        <p:nvSpPr>
          <p:cNvPr id="267" name="Google Shape;267;p9"/>
          <p:cNvSpPr/>
          <p:nvPr/>
        </p:nvSpPr>
        <p:spPr>
          <a:xfrm>
            <a:off x="6309360" y="2670048"/>
            <a:ext cx="5212080" cy="886968"/>
          </a:xfrm>
          <a:prstGeom prst="rect">
            <a:avLst/>
          </a:prstGeom>
          <a:solidFill>
            <a:srgbClr val="F5F6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9"/>
          <p:cNvSpPr/>
          <p:nvPr/>
        </p:nvSpPr>
        <p:spPr>
          <a:xfrm>
            <a:off x="6528816" y="2670048"/>
            <a:ext cx="1828800" cy="8869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81F19"/>
              </a:buClr>
              <a:buSzPts val="1200"/>
              <a:buFont typeface="Calibri"/>
              <a:buNone/>
            </a:pPr>
            <a:r>
              <a:rPr b="1" i="0" lang="en-US" sz="1200" u="none" cap="none" strike="noStrike">
                <a:solidFill>
                  <a:srgbClr val="781F19"/>
                </a:solidFill>
                <a:latin typeface="Calibri"/>
                <a:ea typeface="Calibri"/>
                <a:cs typeface="Calibri"/>
                <a:sym typeface="Calibri"/>
              </a:rPr>
              <a:t>Proposed Solution</a:t>
            </a:r>
            <a:endParaRPr b="0" i="0" sz="1200" u="none" cap="none" strike="noStrike">
              <a:solidFill>
                <a:schemeClr val="dk1"/>
              </a:solidFill>
              <a:latin typeface="Calibri"/>
              <a:ea typeface="Calibri"/>
              <a:cs typeface="Calibri"/>
              <a:sym typeface="Calibri"/>
            </a:endParaRPr>
          </a:p>
        </p:txBody>
      </p:sp>
      <p:sp>
        <p:nvSpPr>
          <p:cNvPr id="269" name="Google Shape;269;p9"/>
          <p:cNvSpPr/>
          <p:nvPr/>
        </p:nvSpPr>
        <p:spPr>
          <a:xfrm>
            <a:off x="8357616" y="2670048"/>
            <a:ext cx="2944368" cy="8869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66B74"/>
              </a:buClr>
              <a:buSzPts val="1200"/>
              <a:buFont typeface="Calibri"/>
              <a:buNone/>
            </a:pPr>
            <a:r>
              <a:rPr b="1" i="1" lang="en-US" sz="1200">
                <a:solidFill>
                  <a:srgbClr val="666B74"/>
                </a:solidFill>
                <a:latin typeface="Calibri"/>
                <a:ea typeface="Calibri"/>
                <a:cs typeface="Calibri"/>
                <a:sym typeface="Calibri"/>
              </a:rPr>
              <a:t>SENTRY detects synthetic speech, verifies speaker authenticity, assesses interaction risk, and enables real-time preventive action. </a:t>
            </a:r>
            <a:endParaRPr b="1" i="0" sz="1200" u="none" cap="none" strike="noStrike">
              <a:solidFill>
                <a:schemeClr val="dk1"/>
              </a:solidFill>
              <a:latin typeface="Calibri"/>
              <a:ea typeface="Calibri"/>
              <a:cs typeface="Calibri"/>
              <a:sym typeface="Calibri"/>
            </a:endParaRPr>
          </a:p>
        </p:txBody>
      </p:sp>
      <p:cxnSp>
        <p:nvCxnSpPr>
          <p:cNvPr id="270" name="Google Shape;270;p9"/>
          <p:cNvCxnSpPr/>
          <p:nvPr/>
        </p:nvCxnSpPr>
        <p:spPr>
          <a:xfrm>
            <a:off x="6309360" y="3557016"/>
            <a:ext cx="5212080" cy="0"/>
          </a:xfrm>
          <a:prstGeom prst="straightConnector1">
            <a:avLst/>
          </a:prstGeom>
          <a:noFill/>
          <a:ln cap="flat" cmpd="sng" w="12700">
            <a:solidFill>
              <a:srgbClr val="E7E9F0"/>
            </a:solidFill>
            <a:prstDash val="solid"/>
            <a:round/>
            <a:headEnd len="sm" w="sm" type="none"/>
            <a:tailEnd len="sm" w="sm" type="none"/>
          </a:ln>
        </p:spPr>
      </p:cxnSp>
      <p:sp>
        <p:nvSpPr>
          <p:cNvPr id="271" name="Google Shape;271;p9"/>
          <p:cNvSpPr/>
          <p:nvPr/>
        </p:nvSpPr>
        <p:spPr>
          <a:xfrm>
            <a:off x="6528816" y="3557016"/>
            <a:ext cx="1828800" cy="8869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81F19"/>
              </a:buClr>
              <a:buSzPts val="1200"/>
              <a:buFont typeface="Calibri"/>
              <a:buNone/>
            </a:pPr>
            <a:r>
              <a:rPr b="1" i="0" lang="en-US" sz="1200" u="none" cap="none" strike="noStrike">
                <a:solidFill>
                  <a:srgbClr val="781F19"/>
                </a:solidFill>
                <a:latin typeface="Calibri"/>
                <a:ea typeface="Calibri"/>
                <a:cs typeface="Calibri"/>
                <a:sym typeface="Calibri"/>
              </a:rPr>
              <a:t>Novelty / USP</a:t>
            </a:r>
            <a:endParaRPr b="0" i="0" sz="1200" u="none" cap="none" strike="noStrike">
              <a:solidFill>
                <a:schemeClr val="dk1"/>
              </a:solidFill>
              <a:latin typeface="Calibri"/>
              <a:ea typeface="Calibri"/>
              <a:cs typeface="Calibri"/>
              <a:sym typeface="Calibri"/>
            </a:endParaRPr>
          </a:p>
        </p:txBody>
      </p:sp>
      <p:sp>
        <p:nvSpPr>
          <p:cNvPr id="272" name="Google Shape;272;p9"/>
          <p:cNvSpPr/>
          <p:nvPr/>
        </p:nvSpPr>
        <p:spPr>
          <a:xfrm>
            <a:off x="8357616" y="3557016"/>
            <a:ext cx="2944368" cy="8869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66B74"/>
              </a:buClr>
              <a:buSzPts val="1200"/>
              <a:buFont typeface="Calibri"/>
              <a:buNone/>
            </a:pPr>
            <a:r>
              <a:rPr b="1" i="1" lang="en-US" sz="1200">
                <a:solidFill>
                  <a:srgbClr val="666B74"/>
                </a:solidFill>
                <a:latin typeface="Calibri"/>
                <a:ea typeface="Calibri"/>
                <a:cs typeface="Calibri"/>
                <a:sym typeface="Calibri"/>
              </a:rPr>
              <a:t>Voice Authenticity + Identity Verification + Risk Intelligence + Prevention in one unified real-time system</a:t>
            </a:r>
            <a:r>
              <a:rPr b="1" lang="en-US" sz="1100">
                <a:solidFill>
                  <a:schemeClr val="dk1"/>
                </a:solidFill>
              </a:rPr>
              <a:t> </a:t>
            </a:r>
            <a:endParaRPr b="1" i="0" sz="1200" u="none" cap="none" strike="noStrike">
              <a:solidFill>
                <a:schemeClr val="dk1"/>
              </a:solidFill>
              <a:latin typeface="Calibri"/>
              <a:ea typeface="Calibri"/>
              <a:cs typeface="Calibri"/>
              <a:sym typeface="Calibri"/>
            </a:endParaRPr>
          </a:p>
        </p:txBody>
      </p:sp>
      <p:cxnSp>
        <p:nvCxnSpPr>
          <p:cNvPr id="273" name="Google Shape;273;p9"/>
          <p:cNvCxnSpPr/>
          <p:nvPr/>
        </p:nvCxnSpPr>
        <p:spPr>
          <a:xfrm>
            <a:off x="6309360" y="4443984"/>
            <a:ext cx="5212080" cy="0"/>
          </a:xfrm>
          <a:prstGeom prst="straightConnector1">
            <a:avLst/>
          </a:prstGeom>
          <a:noFill/>
          <a:ln cap="flat" cmpd="sng" w="12700">
            <a:solidFill>
              <a:srgbClr val="E7E9F0"/>
            </a:solidFill>
            <a:prstDash val="solid"/>
            <a:round/>
            <a:headEnd len="sm" w="sm" type="none"/>
            <a:tailEnd len="sm" w="sm" type="none"/>
          </a:ln>
        </p:spPr>
      </p:cxnSp>
      <p:sp>
        <p:nvSpPr>
          <p:cNvPr id="274" name="Google Shape;274;p9"/>
          <p:cNvSpPr/>
          <p:nvPr/>
        </p:nvSpPr>
        <p:spPr>
          <a:xfrm>
            <a:off x="6309360" y="4443984"/>
            <a:ext cx="5212080" cy="886968"/>
          </a:xfrm>
          <a:prstGeom prst="rect">
            <a:avLst/>
          </a:prstGeom>
          <a:solidFill>
            <a:srgbClr val="F5F6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9"/>
          <p:cNvSpPr/>
          <p:nvPr/>
        </p:nvSpPr>
        <p:spPr>
          <a:xfrm>
            <a:off x="6528816" y="4443984"/>
            <a:ext cx="1828800" cy="8869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81F19"/>
              </a:buClr>
              <a:buSzPts val="1200"/>
              <a:buFont typeface="Calibri"/>
              <a:buNone/>
            </a:pPr>
            <a:r>
              <a:rPr b="1" i="0" lang="en-US" sz="1200" u="none" cap="none" strike="noStrike">
                <a:solidFill>
                  <a:srgbClr val="781F19"/>
                </a:solidFill>
                <a:latin typeface="Calibri"/>
                <a:ea typeface="Calibri"/>
                <a:cs typeface="Calibri"/>
                <a:sym typeface="Calibri"/>
              </a:rPr>
              <a:t>Feasibility</a:t>
            </a:r>
            <a:endParaRPr b="0" i="0" sz="1200" u="none" cap="none" strike="noStrike">
              <a:solidFill>
                <a:schemeClr val="dk1"/>
              </a:solidFill>
              <a:latin typeface="Calibri"/>
              <a:ea typeface="Calibri"/>
              <a:cs typeface="Calibri"/>
              <a:sym typeface="Calibri"/>
            </a:endParaRPr>
          </a:p>
        </p:txBody>
      </p:sp>
      <p:sp>
        <p:nvSpPr>
          <p:cNvPr id="276" name="Google Shape;276;p9"/>
          <p:cNvSpPr/>
          <p:nvPr/>
        </p:nvSpPr>
        <p:spPr>
          <a:xfrm>
            <a:off x="8357616" y="4443984"/>
            <a:ext cx="2944368" cy="8869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66B74"/>
              </a:buClr>
              <a:buSzPts val="1200"/>
              <a:buFont typeface="Calibri"/>
              <a:buNone/>
            </a:pPr>
            <a:r>
              <a:rPr b="1" i="1" lang="en-US" sz="1200">
                <a:solidFill>
                  <a:srgbClr val="666B74"/>
                </a:solidFill>
                <a:latin typeface="Calibri"/>
                <a:ea typeface="Calibri"/>
                <a:cs typeface="Calibri"/>
                <a:sym typeface="Calibri"/>
              </a:rPr>
              <a:t>Built using established speech-AI, speaker-verification, backend, and real-time processing technologies with a modular architecture. </a:t>
            </a:r>
            <a:endParaRPr b="1" i="0" sz="1200" u="none" cap="none" strike="noStrike">
              <a:solidFill>
                <a:schemeClr val="dk1"/>
              </a:solidFill>
              <a:latin typeface="Calibri"/>
              <a:ea typeface="Calibri"/>
              <a:cs typeface="Calibri"/>
              <a:sym typeface="Calibri"/>
            </a:endParaRPr>
          </a:p>
        </p:txBody>
      </p:sp>
      <p:cxnSp>
        <p:nvCxnSpPr>
          <p:cNvPr id="277" name="Google Shape;277;p9"/>
          <p:cNvCxnSpPr/>
          <p:nvPr/>
        </p:nvCxnSpPr>
        <p:spPr>
          <a:xfrm>
            <a:off x="6309360" y="5330952"/>
            <a:ext cx="5212080" cy="0"/>
          </a:xfrm>
          <a:prstGeom prst="straightConnector1">
            <a:avLst/>
          </a:prstGeom>
          <a:noFill/>
          <a:ln cap="flat" cmpd="sng" w="12700">
            <a:solidFill>
              <a:srgbClr val="E7E9F0"/>
            </a:solidFill>
            <a:prstDash val="solid"/>
            <a:round/>
            <a:headEnd len="sm" w="sm" type="none"/>
            <a:tailEnd len="sm" w="sm" type="none"/>
          </a:ln>
        </p:spPr>
      </p:cxnSp>
      <p:sp>
        <p:nvSpPr>
          <p:cNvPr id="278" name="Google Shape;278;p9"/>
          <p:cNvSpPr/>
          <p:nvPr/>
        </p:nvSpPr>
        <p:spPr>
          <a:xfrm>
            <a:off x="6528816" y="5330952"/>
            <a:ext cx="1828800" cy="8869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81F19"/>
              </a:buClr>
              <a:buSzPts val="1200"/>
              <a:buFont typeface="Calibri"/>
              <a:buNone/>
            </a:pPr>
            <a:r>
              <a:rPr b="1" i="0" lang="en-US" sz="1200" u="none" cap="none" strike="noStrike">
                <a:solidFill>
                  <a:srgbClr val="781F19"/>
                </a:solidFill>
                <a:latin typeface="Calibri"/>
                <a:ea typeface="Calibri"/>
                <a:cs typeface="Calibri"/>
                <a:sym typeface="Calibri"/>
              </a:rPr>
              <a:t>Impact</a:t>
            </a:r>
            <a:endParaRPr b="0" i="0" sz="1200" u="none" cap="none" strike="noStrike">
              <a:solidFill>
                <a:schemeClr val="dk1"/>
              </a:solidFill>
              <a:latin typeface="Calibri"/>
              <a:ea typeface="Calibri"/>
              <a:cs typeface="Calibri"/>
              <a:sym typeface="Calibri"/>
            </a:endParaRPr>
          </a:p>
        </p:txBody>
      </p:sp>
      <p:sp>
        <p:nvSpPr>
          <p:cNvPr id="279" name="Google Shape;279;p9"/>
          <p:cNvSpPr/>
          <p:nvPr/>
        </p:nvSpPr>
        <p:spPr>
          <a:xfrm>
            <a:off x="8357616" y="5330952"/>
            <a:ext cx="2944368" cy="88696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666B74"/>
              </a:buClr>
              <a:buSzPts val="1200"/>
              <a:buFont typeface="Calibri"/>
              <a:buNone/>
            </a:pPr>
            <a:r>
              <a:rPr b="1" i="1" lang="en-US" sz="1200">
                <a:solidFill>
                  <a:srgbClr val="666B74"/>
                </a:solidFill>
                <a:latin typeface="Calibri"/>
                <a:ea typeface="Calibri"/>
                <a:cs typeface="Calibri"/>
                <a:sym typeface="Calibri"/>
              </a:rPr>
              <a:t>Protects users and institutions, reduces potential fraud exposure, and strengthens trust in digital voice-based communication. </a:t>
            </a:r>
            <a:endParaRPr b="1" i="0" sz="1200" u="none" cap="none" strike="noStrike">
              <a:solidFill>
                <a:schemeClr val="dk1"/>
              </a:solidFill>
              <a:latin typeface="Calibri"/>
              <a:ea typeface="Calibri"/>
              <a:cs typeface="Calibri"/>
              <a:sym typeface="Calibri"/>
            </a:endParaRPr>
          </a:p>
        </p:txBody>
      </p:sp>
      <p:sp>
        <p:nvSpPr>
          <p:cNvPr id="280" name="Google Shape;280;p9"/>
          <p:cNvSpPr/>
          <p:nvPr/>
        </p:nvSpPr>
        <p:spPr>
          <a:xfrm>
            <a:off x="548640" y="6519672"/>
            <a:ext cx="8686800" cy="27432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781F19"/>
              </a:buClr>
              <a:buSzPts val="900"/>
              <a:buFont typeface="Calibri"/>
              <a:buNone/>
            </a:pPr>
            <a:r>
              <a:rPr b="1" i="0" lang="en-US" sz="900" u="none" cap="none" strike="noStrike">
                <a:solidFill>
                  <a:srgbClr val="781F19"/>
                </a:solidFill>
                <a:latin typeface="Calibri"/>
                <a:ea typeface="Calibri"/>
                <a:cs typeface="Calibri"/>
                <a:sym typeface="Calibri"/>
              </a:rPr>
              <a:t>IITM BS Degree Programme</a:t>
            </a:r>
            <a:r>
              <a:rPr b="0" i="0" lang="en-US" sz="900" u="none" cap="none" strike="noStrike">
                <a:solidFill>
                  <a:srgbClr val="666B74"/>
                </a:solidFill>
                <a:latin typeface="Calibri"/>
                <a:ea typeface="Calibri"/>
                <a:cs typeface="Calibri"/>
                <a:sym typeface="Calibri"/>
              </a:rPr>
              <a:t>   ·   SIH Internal Hackathon, Presentation</a:t>
            </a:r>
            <a:endParaRPr b="0" i="0" sz="900" u="none" cap="none" strike="noStrike">
              <a:solidFill>
                <a:schemeClr val="dk1"/>
              </a:solidFill>
              <a:latin typeface="Calibri"/>
              <a:ea typeface="Calibri"/>
              <a:cs typeface="Calibri"/>
              <a:sym typeface="Calibri"/>
            </a:endParaRPr>
          </a:p>
        </p:txBody>
      </p:sp>
      <p:sp>
        <p:nvSpPr>
          <p:cNvPr id="281" name="Google Shape;281;p9"/>
          <p:cNvSpPr/>
          <p:nvPr/>
        </p:nvSpPr>
        <p:spPr>
          <a:xfrm>
            <a:off x="8897112" y="6519672"/>
            <a:ext cx="2743200" cy="27432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666B74"/>
              </a:buClr>
              <a:buSzPts val="900"/>
              <a:buFont typeface="Calibri"/>
              <a:buNone/>
            </a:pPr>
            <a:r>
              <a:rPr b="0" i="0" lang="en-US" sz="900" u="none" cap="none" strike="noStrike">
                <a:solidFill>
                  <a:srgbClr val="666B74"/>
                </a:solidFill>
                <a:latin typeface="Calibri"/>
                <a:ea typeface="Calibri"/>
                <a:cs typeface="Calibri"/>
                <a:sym typeface="Calibri"/>
              </a:rPr>
              <a:t>Section 08 of 08</a:t>
            </a:r>
            <a:endParaRPr b="0" i="0" sz="900" u="none" cap="none" strike="noStrike">
              <a:solidFill>
                <a:schemeClr val="dk1"/>
              </a:solidFill>
              <a:latin typeface="Calibri"/>
              <a:ea typeface="Calibri"/>
              <a:cs typeface="Calibri"/>
              <a:sym typeface="Calibri"/>
            </a:endParaRPr>
          </a:p>
        </p:txBody>
      </p:sp>
      <p:cxnSp>
        <p:nvCxnSpPr>
          <p:cNvPr id="282" name="Google Shape;282;p9"/>
          <p:cNvCxnSpPr/>
          <p:nvPr/>
        </p:nvCxnSpPr>
        <p:spPr>
          <a:xfrm>
            <a:off x="548640" y="6473952"/>
            <a:ext cx="11091672" cy="0"/>
          </a:xfrm>
          <a:prstGeom prst="straightConnector1">
            <a:avLst/>
          </a:prstGeom>
          <a:noFill/>
          <a:ln cap="flat" cmpd="sng" w="12700">
            <a:solidFill>
              <a:srgbClr val="E7E9F0"/>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2026-08-24T21:15:17Z</dcterms:created>
  <dc:creator>PptxGenJS</dc:creator>
</cp:coreProperties>
</file>